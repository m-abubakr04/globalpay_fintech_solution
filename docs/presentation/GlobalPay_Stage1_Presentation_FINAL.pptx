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502920"/>
            <a:ext cx="1005840" cy="1005840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591556" y="5029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8FD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GLOBALPAY DIGITAL FINANCIAL SERVICES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Financial Technology Platform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Wallets · Payment Processing · AI Fraud Detection · Open Banking · CBDC Simulation · Executive Reporting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Enterprise Solution Presentation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280160" y="40233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4752" y="4133088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44752" y="4443984"/>
            <a:ext cx="41513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Abubakr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Artificial Intelligence Operations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EduQual Level 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0" y="4023360"/>
            <a:ext cx="4480560" cy="1737360"/>
          </a:xfrm>
          <a:prstGeom prst="roundRect">
            <a:avLst>
              <a:gd name="adj" fmla="val 4211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4133088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role &amp;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65392" y="4443984"/>
            <a:ext cx="41513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provider for fictional client GlobalPay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monolith — 9 routers, 5 conceptual modules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financial transactions only — no real banking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>
  <ns0:cSld name="Slide 2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82296" cy="6858000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3" name="Shape 1"/>
          <ns0:cNvSpPr/>
          <ns0:nvPr/>
        </ns0:nvSpPr>
        <ns0:spPr>
          <ns1:xfrm>
            <ns1:off x="292608" y="182880"/>
            <ns1:ext cx="310896" cy="310896"/>
          </ns1:xfrm>
          <ns1:prstGeom prst="roundRect">
            <ns1:avLst>
              <ns1:gd name="adj" fmla="val 28000"/>
            </ns1:avLst>
          </ns1:prstGeom>
          <ns1:solidFill>
            <ns1:srgbClr val="1E2761"/>
          </ns1:solidFill>
          <ns1:ln/>
        </ns0:spPr>
      </ns0:sp>
      <ns0:sp>
        <ns0:nvSpPr>
          <ns0:cNvPr id="4" name="Text 2"/>
          <ns0:cNvSpPr/>
          <ns0:nvPr/>
        </ns0:nvSpPr>
        <ns0:spPr>
          <ns1:xfrm>
            <ns1:off x="292608" y="182880"/>
            <ns1:ext cx="310896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28" b="1" dirty="0">
                <ns1:solidFill>
                  <ns1:srgbClr val="FFFFFF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G</ns1:t>
            </ns1:r>
            <ns1:endParaRPr lang="en-US" sz="1428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749808" y="164592"/>
            <ns1:ext cx="10680192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E2761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Presentation Roadmap</ns1:t>
            </ns1:r>
            <ns1:endParaRPr lang="en-US" sz="2000" dirty="0"/>
          </ns1:p>
        </ns0:txBody>
      </ns0:sp>
      <ns0:sp>
        <ns0:nvSpPr>
          <ns0:cNvPr id="6" name="Text 4"/>
          <ns0:cNvSpPr/>
          <ns0:nvPr/>
        </ns0:nvSpPr>
        <ns0:spPr>
          <ns1:xfrm>
            <ns1:off x="749808" y="548640"/>
            <ns1:ext cx="1143000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55555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Six sections — big picture first, then each module, then the data layer</ns1:t>
            </ns1:r>
            <ns1:endParaRPr lang="en-US" sz="105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457200" y="1051560"/>
            <ns1:ext cx="3611880" cy="1417320"/>
          </ns1:xfrm>
          <ns1:prstGeom prst="roundRect">
            <ns1:avLst>
              <ns1:gd name="adj" fmla="val 5161"/>
            </ns1:avLst>
          </ns1:prstGeom>
          <ns1:solidFill>
            <ns1:srgbClr val="F4F5FB"/>
          </ns1:solidFill>
          <ns1:ln w="12700">
            <ns1:solidFill>
              <ns1:srgbClr val="CCD3EE"/>
            </ns1:solidFill>
            <ns1:prstDash val="solid"/>
          </ns1:ln>
        </ns0:spPr>
      </ns0:sp>
      <ns0:sp>
        <ns0:nvSpPr>
          <ns0:cNvPr id="8" name="Shape 6"/>
          <ns0:cNvSpPr/>
          <ns0:nvPr/>
        </ns0:nvSpPr>
        <ns0:spPr>
          <ns1:xfrm>
            <ns1:off x="640080" y="1234440"/>
            <ns1:ext cx="457200" cy="457200"/>
          </ns1:xfrm>
          <ns1:prstGeom prst="ellipse">
            <ns1:avLst/>
          </ns1:prstGeom>
          <ns1:solidFill>
            <ns1:srgbClr val="1E2761"/>
          </ns1:solidFill>
          <ns1:ln/>
        </ns0:spPr>
      </ns0:sp>
      <ns0:sp>
        <ns0:nvSpPr>
          <ns0:cNvPr id="9" name="Text 7"/>
          <ns0:cNvSpPr/>
          <ns0:nvPr/>
        </ns0:nvSpPr>
        <ns0:spPr>
          <ns1:xfrm>
            <ns1:off x="640080" y="1234440"/>
            <ns1:ext cx="4572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</ns1:t>
            </ns1:r>
            <ns1:endParaRPr lang="en-US" sz="150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1234440" y="1252728"/>
            <ns1:ext cx="269748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Client &amp; Problem</ns1:t>
            </ns1:r>
            <ns1:endParaRPr lang="en-US" sz="1300" dirty="0"/>
          </ns1:p>
        </ns0:txBody>
      </ns0:sp>
      <ns0:sp>
        <ns0:nvSpPr>
          <ns0:cNvPr id="11" name="Text 9"/>
          <ns0:cNvSpPr/>
          <ns0:nvPr/>
        </ns0:nvSpPr>
        <ns0:spPr>
          <ns1:xfrm>
            <ns1:off x="1234440" y="1618488"/>
            <ns1:ext cx="265176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dirty="0">
                <ns1:solidFill>
                  <ns1:srgbClr val="44444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GlobalPay context, disconnected systems, transformation objective</ns1:t>
            </ns1:r>
            <ns1:endParaRPr lang="en-US" sz="1000" dirty="0"/>
          </ns1:p>
        </ns0:txBody>
      </ns0:sp>
      <ns0:sp>
        <ns0:nvSpPr>
          <ns0:cNvPr id="12" name="Shape 10"/>
          <ns0:cNvSpPr/>
          <ns0:nvPr/>
        </ns0:nvSpPr>
        <ns0:spPr>
          <ns1:xfrm>
            <ns1:off x="4297680" y="1051560"/>
            <ns1:ext cx="3611880" cy="1417320"/>
          </ns1:xfrm>
          <ns1:prstGeom prst="roundRect">
            <ns1:avLst>
              <ns1:gd name="adj" fmla="val 5161"/>
            </ns1:avLst>
          </ns1:prstGeom>
          <ns1:solidFill>
            <ns1:srgbClr val="F4F5FB"/>
          </ns1:solidFill>
          <ns1:ln w="12700">
            <ns1:solidFill>
              <ns1:srgbClr val="CCD3EE"/>
            </ns1:solidFill>
            <ns1:prstDash val="solid"/>
          </ns1:ln>
        </ns0:spPr>
      </ns0:sp>
      <ns0:sp>
        <ns0:nvSpPr>
          <ns0:cNvPr id="13" name="Shape 11"/>
          <ns0:cNvSpPr/>
          <ns0:nvPr/>
        </ns0:nvSpPr>
        <ns0:spPr>
          <ns1:xfrm>
            <ns1:off x="4480560" y="1234440"/>
            <ns1:ext cx="457200" cy="457200"/>
          </ns1:xfrm>
          <ns1:prstGeom prst="ellipse">
            <ns1:avLst/>
          </ns1:prstGeom>
          <ns1:solidFill>
            <ns1:srgbClr val="1E2761"/>
          </ns1:solidFill>
          <ns1:ln/>
        </ns0:spPr>
      </ns0:sp>
      <ns0:sp>
        <ns0:nvSpPr>
          <ns0:cNvPr id="14" name="Text 12"/>
          <ns0:cNvSpPr/>
          <ns0:nvPr/>
        </ns0:nvSpPr>
        <ns0:spPr>
          <ns1:xfrm>
            <ns1:off x="4480560" y="1234440"/>
            <ns1:ext cx="4572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</ns1:t>
            </ns1:r>
            <ns1:endParaRPr lang="en-US" sz="1500" dirty="0"/>
          </ns1:p>
        </ns0:txBody>
      </ns0:sp>
      <ns0:sp>
        <ns0:nvSpPr>
          <ns0:cNvPr id="15" name="Text 13"/>
          <ns0:cNvSpPr/>
          <ns0:nvPr/>
        </ns0:nvSpPr>
        <ns0:spPr>
          <ns1:xfrm>
            <ns1:off x="5074920" y="1252728"/>
            <ns1:ext cx="269748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FinTech Domain</ns1:t>
            </ns1:r>
            <ns1:endParaRPr lang="en-US" sz="1300" dirty="0"/>
          </ns1:p>
        </ns0:txBody>
      </ns0:sp>
      <ns0:sp>
        <ns0:nvSpPr>
          <ns0:cNvPr id="16" name="Text 14"/>
          <ns0:cNvSpPr/>
          <ns0:nvPr/>
        </ns0:nvSpPr>
        <ns0:spPr>
          <ns1:xfrm>
            <ns1:off x="5074920" y="1618488"/>
            <ns1:ext cx="265176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dirty="0">
                <ns1:solidFill>
                  <ns1:srgbClr val="44444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Wallets, payments, Open Banking, CBDC and fraud analytics</ns1:t>
            </ns1:r>
            <ns1:endParaRPr lang="en-US" sz="100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8138160" y="1051560"/>
            <ns1:ext cx="3611880" cy="1417320"/>
          </ns1:xfrm>
          <ns1:prstGeom prst="roundRect">
            <ns1:avLst>
              <ns1:gd name="adj" fmla="val 5161"/>
            </ns1:avLst>
          </ns1:prstGeom>
          <ns1:solidFill>
            <ns1:srgbClr val="F4F5FB"/>
          </ns1:solidFill>
          <ns1:ln w="12700">
            <ns1:solidFill>
              <ns1:srgbClr val="CCD3EE"/>
            </ns1:solidFill>
            <ns1:prstDash val="solid"/>
          </ns1:ln>
        </ns0:spPr>
      </ns0:sp>
      <ns0:sp>
        <ns0:nvSpPr>
          <ns0:cNvPr id="18" name="Shape 16"/>
          <ns0:cNvSpPr/>
          <ns0:nvPr/>
        </ns0:nvSpPr>
        <ns0:spPr>
          <ns1:xfrm>
            <ns1:off x="8321040" y="1234440"/>
            <ns1:ext cx="457200" cy="457200"/>
          </ns1:xfrm>
          <ns1:prstGeom prst="ellipse">
            <ns1:avLst/>
          </ns1:prstGeom>
          <ns1:solidFill>
            <ns1:srgbClr val="1E2761"/>
          </ns1:solidFill>
          <ns1:ln/>
        </ns0:spPr>
      </ns0:sp>
      <ns0:sp>
        <ns0:nvSpPr>
          <ns0:cNvPr id="19" name="Text 17"/>
          <ns0:cNvSpPr/>
          <ns0:nvPr/>
        </ns0:nvSpPr>
        <ns0:spPr>
          <ns1:xfrm>
            <ns1:off x="8321040" y="1234440"/>
            <ns1:ext cx="4572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</ns1:t>
            </ns1:r>
            <ns1:endParaRPr lang="en-US" sz="150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8915400" y="1252728"/>
            <ns1:ext cx="269748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Enterprise Architecture</ns1:t>
            </ns1:r>
            <ns1:endParaRPr lang="en-US" sz="1300" dirty="0"/>
          </ns1:p>
        </ns0:txBody>
      </ns0:sp>
      <ns0:sp>
        <ns0:nvSpPr>
          <ns0:cNvPr id="21" name="Text 19"/>
          <ns0:cNvSpPr/>
          <ns0:nvPr/>
        </ns0:nvSpPr>
        <ns0:spPr>
          <ns1:xfrm>
            <ns1:off x="8915400" y="1618488"/>
            <ns1:ext cx="265176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dirty="0">
                <ns1:solidFill>
                  <ns1:srgbClr val="44444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How five modules communicate through secure APIs and data stores</ns1:t>
            </ns1:r>
            <ns1:endParaRPr lang="en-US" sz="1000" dirty="0"/>
          </ns1:p>
        </ns0:txBody>
      </ns0:sp>
      <ns0:sp>
        <ns0:nvSpPr>
          <ns0:cNvPr id="22" name="Shape 20"/>
          <ns0:cNvSpPr/>
          <ns0:nvPr/>
        </ns0:nvSpPr>
        <ns0:spPr>
          <ns1:xfrm>
            <ns1:off x="457200" y="2743200"/>
            <ns1:ext cx="3611880" cy="1417320"/>
          </ns1:xfrm>
          <ns1:prstGeom prst="roundRect">
            <ns1:avLst>
              <ns1:gd name="adj" fmla="val 5161"/>
            </ns1:avLst>
          </ns1:prstGeom>
          <ns1:solidFill>
            <ns1:srgbClr val="F4F5FB"/>
          </ns1:solidFill>
          <ns1:ln w="12700">
            <ns1:solidFill>
              <ns1:srgbClr val="CCD3EE"/>
            </ns1:solidFill>
            <ns1:prstDash val="solid"/>
          </ns1:ln>
        </ns0:spPr>
      </ns0:sp>
      <ns0:sp>
        <ns0:nvSpPr>
          <ns0:cNvPr id="23" name="Shape 21"/>
          <ns0:cNvSpPr/>
          <ns0:nvPr/>
        </ns0:nvSpPr>
        <ns0:spPr>
          <ns1:xfrm>
            <ns1:off x="640080" y="2926080"/>
            <ns1:ext cx="457200" cy="457200"/>
          </ns1:xfrm>
          <ns1:prstGeom prst="ellipse">
            <ns1:avLst/>
          </ns1:prstGeom>
          <ns1:solidFill>
            <ns1:srgbClr val="1E2761"/>
          </ns1:solidFill>
          <ns1:ln/>
        </ns0:spPr>
      </ns0:sp>
      <ns0:sp>
        <ns0:nvSpPr>
          <ns0:cNvPr id="24" name="Text 22"/>
          <ns0:cNvSpPr/>
          <ns0:nvPr/>
        </ns0:nvSpPr>
        <ns0:spPr>
          <ns1:xfrm>
            <ns1:off x="640080" y="2926080"/>
            <ns1:ext cx="4572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</ns1:t>
            </ns1:r>
            <ns1:endParaRPr lang="en-US" sz="1500" dirty="0"/>
          </ns1:p>
        </ns0:txBody>
      </ns0:sp>
      <ns0:sp>
        <ns0:nvSpPr>
          <ns0:cNvPr id="25" name="Text 23"/>
          <ns0:cNvSpPr/>
          <ns0:nvPr/>
        </ns0:nvSpPr>
        <ns0:spPr>
          <ns1:xfrm>
            <ns1:off x="1234440" y="2944368"/>
            <ns1:ext cx="269748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Module Architectures</ns1:t>
            </ns1:r>
            <ns1:endParaRPr lang="en-US" sz="130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1234440" y="3310128"/>
            <ns1:ext cx="265176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dirty="0">
                <ns1:solidFill>
                  <ns1:srgbClr val="44444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Wallet, payment, fraud AI, Open Banking/CBDC, executive dashboard</ns1:t>
            </ns1:r>
            <ns1:endParaRPr lang="en-US" sz="10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4297680" y="2743200"/>
            <ns1:ext cx="3611880" cy="1417320"/>
          </ns1:xfrm>
          <ns1:prstGeom prst="roundRect">
            <ns1:avLst>
              <ns1:gd name="adj" fmla="val 5161"/>
            </ns1:avLst>
          </ns1:prstGeom>
          <ns1:solidFill>
            <ns1:srgbClr val="F4F5FB"/>
          </ns1:solidFill>
          <ns1:ln w="12700">
            <ns1:solidFill>
              <ns1:srgbClr val="CCD3EE"/>
            </ns1:solidFill>
            <ns1:prstDash val="solid"/>
          </ns1:ln>
        </ns0:spPr>
      </ns0:sp>
      <ns0:sp>
        <ns0:nvSpPr>
          <ns0:cNvPr id="28" name="Shape 26"/>
          <ns0:cNvSpPr/>
          <ns0:nvPr/>
        </ns0:nvSpPr>
        <ns0:spPr>
          <ns1:xfrm>
            <ns1:off x="4480560" y="2926080"/>
            <ns1:ext cx="457200" cy="457200"/>
          </ns1:xfrm>
          <ns1:prstGeom prst="ellipse">
            <ns1:avLst/>
          </ns1:prstGeom>
          <ns1:solidFill>
            <ns1:srgbClr val="1E2761"/>
          </ns1:solidFill>
          <ns1:ln/>
        </ns0:spPr>
      </ns0:sp>
      <ns0:sp>
        <ns0:nvSpPr>
          <ns0:cNvPr id="29" name="Text 27"/>
          <ns0:cNvSpPr/>
          <ns0:nvPr/>
        </ns0:nvSpPr>
        <ns0:spPr>
          <ns1:xfrm>
            <ns1:off x="4480560" y="2926080"/>
            <ns1:ext cx="4572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</ns1:t>
            </ns1:r>
            <ns1:endParaRPr lang="en-US" sz="1500" dirty="0"/>
          </ns1:p>
        </ns0:txBody>
      </ns0:sp>
      <ns0:sp>
        <ns0:nvSpPr>
          <ns0:cNvPr id="30" name="Text 28"/>
          <ns0:cNvSpPr/>
          <ns0:nvPr/>
        </ns0:nvSpPr>
        <ns0:spPr>
          <ns1:xfrm>
            <ns1:off x="5074920" y="2944368"/>
            <ns1:ext cx="269748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Network &amp; Data Flows</ns1:t>
            </ns1:r>
            <ns1:endParaRPr lang="en-US" sz="1300" dirty="0"/>
          </ns1:p>
        </ns0:txBody>
      </ns0:sp>
      <ns0:sp>
        <ns0:nvSpPr>
          <ns0:cNvPr id="31" name="Text 29"/>
          <ns0:cNvSpPr/>
          <ns0:nvPr/>
        </ns0:nvSpPr>
        <ns0:spPr>
          <ns1:xfrm>
            <ns1:off x="5074920" y="3310128"/>
            <ns1:ext cx="265176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dirty="0">
                <ns1:solidFill>
                  <ns1:srgbClr val="44444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TLS, REST APIs, PostgreSQL, DFD, ERD</ns1:t>
            </ns1:r>
            <ns1:endParaRPr lang="en-US" sz="1000" dirty="0"/>
          </ns1:p>
        </ns0:txBody>
      </ns0:sp>
      <ns0:sp>
        <ns0:nvSpPr>
          <ns0:cNvPr id="32" name="Shape 30"/>
          <ns0:cNvSpPr/>
          <ns0:nvPr/>
        </ns0:nvSpPr>
        <ns0:spPr>
          <ns1:xfrm>
            <ns1:off x="8138160" y="2743200"/>
            <ns1:ext cx="3611880" cy="1417320"/>
          </ns1:xfrm>
          <ns1:prstGeom prst="roundRect">
            <ns1:avLst>
              <ns1:gd name="adj" fmla="val 5161"/>
            </ns1:avLst>
          </ns1:prstGeom>
          <ns1:solidFill>
            <ns1:srgbClr val="F4F5FB"/>
          </ns1:solidFill>
          <ns1:ln w="12700">
            <ns1:solidFill>
              <ns1:srgbClr val="CCD3EE"/>
            </ns1:solidFill>
            <ns1:prstDash val="solid"/>
          </ns1:ln>
        </ns0:spPr>
      </ns0:sp>
      <ns0:sp>
        <ns0:nvSpPr>
          <ns0:cNvPr id="33" name="Shape 31"/>
          <ns0:cNvSpPr/>
          <ns0:nvPr/>
        </ns0:nvSpPr>
        <ns0:spPr>
          <ns1:xfrm>
            <ns1:off x="8321040" y="2926080"/>
            <ns1:ext cx="457200" cy="457200"/>
          </ns1:xfrm>
          <ns1:prstGeom prst="ellipse">
            <ns1:avLst/>
          </ns1:prstGeom>
          <ns1:solidFill>
            <ns1:srgbClr val="1E2761"/>
          </ns1:solidFill>
          <ns1:ln/>
        </ns0:spPr>
      </ns0:sp>
      <ns0:sp>
        <ns0:nvSpPr>
          <ns0:cNvPr id="34" name="Text 32"/>
          <ns0:cNvSpPr/>
          <ns0:nvPr/>
        </ns0:nvSpPr>
        <ns0:spPr>
          <ns1:xfrm>
            <ns1:off x="8321040" y="2926080"/>
            <ns1:ext cx="457200" cy="45720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5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</ns1:t>
            </ns1:r>
            <ns1:endParaRPr lang="en-US" sz="1500" dirty="0"/>
          </ns1:p>
        </ns0:txBody>
      </ns0:sp>
      <ns0:sp>
        <ns0:nvSpPr>
          <ns0:cNvPr id="35" name="Text 33"/>
          <ns0:cNvSpPr/>
          <ns0:nvPr/>
        </ns0:nvSpPr>
        <ns0:spPr>
          <ns1:xfrm>
            <ns1:off x="8915400" y="2944368"/>
            <ns1:ext cx="2697480" cy="36576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Stack, Standards &amp; Outcomes</ns1:t>
            </ns1:r>
            <ns1:endParaRPr lang="en-US" sz="1300" dirty="0"/>
          </ns1:p>
        </ns0:txBody>
      </ns0:sp>
      <ns0:sp>
        <ns0:nvSpPr>
          <ns0:cNvPr id="36" name="Text 34"/>
          <ns0:cNvSpPr/>
          <ns0:nvPr/>
        </ns0:nvSpPr>
        <ns0:spPr>
          <ns1:xfrm>
            <ns1:off x="8915400" y="3310128"/>
            <ns1:ext cx="2651760" cy="77724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1000" dirty="0">
                <ns1:solidFill>
                  <ns1:srgbClr val="444444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Technology choices, framework mapping, limitations, future work</ns1:t>
            </ns1:r>
            <ns1:endParaRPr lang="en-US" sz="1000" dirty="0"/>
          </ns1:p>
        </ns0:txBody>
      </ns0:sp>
      <ns0:sp>
        <ns0:nvSpPr>
          <ns0:cNvPr id="37" name="Text 35"/>
          <ns0:cNvSpPr/>
          <ns0:nvPr/>
        </ns0:nvSpPr>
        <ns0:spPr>
          <ns1:xfrm>
            <ns1:off x="457200" y="5989320"/>
            <ns1:ext cx="1124712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i="1" dirty="0">
                <ns1:solidFill>
                  <ns1:srgbClr val="666666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The complete set of 17 Section 8 deliverables is provided separately in the GitHub diagram pack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Background, Problem &amp; Objectives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GlobalPay needs this solution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15568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426464"/>
            <a:ext cx="51572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GlobalPay provides digital wallets, payments, merchant services, Open Banking APIs and analytics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organisation for assessment purposes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50M+ simulated transactions/day across countries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115568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82512" y="1426464"/>
            <a:ext cx="51572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wallet, payment, fraud and reporting systems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operational visibility across the business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is reactive, not predictive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customer transaction analytics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310128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3621024"/>
            <a:ext cx="51572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unified enterprise FinTech platform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secure digital wallet and payment operations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AI-assisted fraud detection with mandatory human review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Open Banking and CBDC operations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310128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guardrails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3621024"/>
            <a:ext cx="515721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financial transactions only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Laptop-scale proof of concept — 8-16 GB RAM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banking, card network or central bank connection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powerpoint/2010/main">
  <ns0:cSld name="Slide 4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82296" cy="6858000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3" name="Shape 1"/>
          <ns0:cNvSpPr/>
          <ns0:nvPr/>
        </ns0:nvSpPr>
        <ns0:spPr>
          <ns1:xfrm>
            <ns1:off x="292608" y="182880"/>
            <ns1:ext cx="310896" cy="310896"/>
          </ns1:xfrm>
          <ns1:prstGeom prst="roundRect">
            <ns1:avLst>
              <ns1:gd name="adj" fmla="val 28000"/>
            </ns1:avLst>
          </ns1:prstGeom>
          <ns1:solidFill>
            <ns1:srgbClr val="1E2761"/>
          </ns1:solidFill>
          <ns1:ln/>
        </ns0:spPr>
      </ns0:sp>
      <ns0:sp>
        <ns0:nvSpPr>
          <ns0:cNvPr id="4" name="Text 2"/>
          <ns0:cNvSpPr/>
          <ns0:nvPr/>
        </ns0:nvSpPr>
        <ns0:spPr>
          <ns1:xfrm>
            <ns1:off x="292608" y="182880"/>
            <ns1:ext cx="310896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28" b="1" dirty="0">
                <ns1:solidFill>
                  <ns1:srgbClr val="FFFFFF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G</ns1:t>
            </ns1:r>
            <ns1:endParaRPr lang="en-US" sz="1428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749808" y="164592"/>
            <ns1:ext cx="10680192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E2761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FinTech Domain Overview &amp; User Roles</ns1:t>
            </ns1:r>
            <ns1:endParaRPr lang="en-US" sz="2000" dirty="0"/>
          </ns1:p>
        </ns0:txBody>
      </ns0:sp>
      <ns0:sp>
        <ns0:nvSpPr>
          <ns0:cNvPr id="6" name="Text 4"/>
          <ns0:cNvSpPr/>
          <ns0:nvPr/>
        </ns0:nvSpPr>
        <ns0:spPr>
          <ns1:xfrm>
            <ns1:off x="749808" y="548640"/>
            <ns1:ext cx="1143000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55555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How wallets, payments, Open Banking, CBDC and fraud operations fit together</ns1:t>
            </ns1:r>
            <ns1:endParaRPr lang="en-US" sz="1050" dirty="0"/>
          </ns1:p>
        </ns0:txBody>
      </ns0:sp>
      <ns0:graphicFrame>
        <ns0:nvGraphicFramePr>
          <ns0:cNvPr id="5" name="Table 0"/>
          <ns0:cNvGraphicFramePr>
            <ns1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ns1:off x="457200" y="1051560"/>
          <ns1:ext cx="5577840" cy="2743200"/>
        </ns0:xfrm>
        <ns1:graphic>
          <ns1:graphicData uri="http://schemas.openxmlformats.org/drawingml/2006/table">
            <ns1:tbl>
              <ns1:tblPr/>
              <ns1:tblGrid>
                <ns1:gridCol w="1828800"/>
                <ns1:gridCol w="3749040"/>
              </ns1:tblGrid>
              <ns1:tr h="438912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Role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What they see / do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38912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Customer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Wallet, payments, profile, history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38912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Merchant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Payments received, settlement view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38912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Fraud analyst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Alert queue, review decisions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38912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Analyst/Admin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API activity and health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438912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Executive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5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Read-only KPIs and reports</ns1:t>
                      </ns1:r>
                      <ns1:endParaRPr lang="en-US" sz="105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Shape 5"/>
          <ns0:cNvSpPr/>
          <ns0:nvPr/>
        </ns0:nvSpPr>
        <ns0:spPr>
          <ns1:xfrm>
            <ns1:off x="457200" y="1051560"/>
            <ns1:ext cx="5577840" cy="438912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9" name="Text 6"/>
          <ns0:cNvSpPr/>
          <ns0:nvPr/>
        </ns0:nvSpPr>
        <ns0:spPr>
          <ns1:xfrm>
            <ns1:off x="457200" y="1051560"/>
            <ns1:ext cx="1828800" cy="438912"/>
          </ns1:xfrm>
          <ns1:prstGeom prst="rect">
            <ns1:avLst/>
          </ns1:prstGeom>
          <ns1:noFill/>
          <ns1:ln/>
        </ns0:spPr>
        <ns0:txBody>
          <ns1:bodyPr wrap="square" lIns="635" tIns="635" rIns="635" bIns="635" rtlCol="0" anchor="ctr"/>
          <ns1:lstStyle/>
          <ns1:p>
            <ns1:pPr indent="0" marL="0">
              <ns1:buNone/>
            </ns1:pPr>
            <ns1:r>
              <ns1:rPr lang="en-US" sz="105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Role</ns1:t>
            </ns1:r>
            <ns1:endParaRPr lang="en-US" sz="1050" dirty="0"/>
          </ns1:p>
        </ns0:txBody>
      </ns0:sp>
      <ns0:sp>
        <ns0:nvSpPr>
          <ns0:cNvPr id="10" name="Text 7"/>
          <ns0:cNvSpPr/>
          <ns0:nvPr/>
        </ns0:nvSpPr>
        <ns0:spPr>
          <ns1:xfrm>
            <ns1:off x="2286000" y="1051560"/>
            <ns1:ext cx="3749040" cy="438912"/>
          </ns1:xfrm>
          <ns1:prstGeom prst="rect">
            <ns1:avLst/>
          </ns1:prstGeom>
          <ns1:noFill/>
          <ns1:ln/>
        </ns0:spPr>
        <ns0:txBody>
          <ns1:bodyPr wrap="square" lIns="635" tIns="635" rIns="635" bIns="635" rtlCol="0" anchor="ctr"/>
          <ns1:lstStyle/>
          <ns1:p>
            <ns1:pPr indent="0" marL="0">
              <ns1:buNone/>
            </ns1:pPr>
            <ns1:r>
              <ns1:rPr lang="en-US" sz="105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What they see / do</ns1:t>
            </ns1:r>
            <ns1:endParaRPr lang="en-US" sz="1050" dirty="0"/>
          </ns1:p>
        </ns0:txBody>
      </ns0:sp>
      <ns0:sp>
        <ns0:nvSpPr>
          <ns0:cNvPr id="11" name="Shape 8"/>
          <ns0:cNvSpPr/>
          <ns0:nvPr/>
        </ns0:nvSpPr>
        <ns0:spPr>
          <ns1:xfrm>
            <ns1:off x="6309360" y="1051560"/>
            <ns1:ext cx="5394960" cy="2743200"/>
          </ns1:xfrm>
          <ns1:prstGeom prst="roundRect">
            <ns1:avLst>
              <ns1:gd name="adj" fmla="val 2667"/>
            </ns1:avLst>
          </ns1:prstGeom>
          <ns1:solidFill>
            <ns1:srgbClr val="D3F3EF"/>
          </ns1:solidFill>
          <ns1:ln w="12700">
            <ns1:solidFill>
              <ns1:srgbClr val="3FA79B"/>
            </ns1:solidFill>
            <ns1:prstDash val="solid"/>
          </ns1:ln>
        </ns0:spPr>
      </ns0:sp>
      <ns0:sp>
        <ns0:nvSpPr>
          <ns0:cNvPr id="12" name="Text 9"/>
          <ns0:cNvSpPr/>
          <ns0:nvPr/>
        </ns0:nvSpPr>
        <ns0:spPr>
          <ns1:xfrm>
            <ns1:off x="6473952" y="1161288"/>
            <ns1:ext cx="5065776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300" b="1" dirty="0">
                <ns1:solidFill>
                  <ns1:srgbClr val="1F5F5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Core concepts</ns1:t>
            </ns1:r>
            <ns1:endParaRPr lang="en-US" sz="1300" dirty="0"/>
          </ns1:p>
        </ns0:txBody>
      </ns0:sp>
      <ns0:sp>
        <ns0:nvSpPr>
          <ns0:cNvPr id="13" name="Text 10"/>
          <ns0:cNvSpPr/>
          <ns0:nvPr/>
        </ns0:nvSpPr>
        <ns0:spPr>
          <ns1:xfrm>
            <ns1:off x="6473952" y="1472184"/>
            <ns1:ext cx="5065776" cy="223113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50" dirty="0">
                <ns1:solidFill>
                  <ns1:srgbClr val="1F5F5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Digital wallet: simulated stored value, not a bank account</ns1:t>
            </ns1:r>
            <ns1:endParaRPr lang="en-US" sz="105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50" dirty="0">
                <ns1:solidFill>
                  <ns1:srgbClr val="1F5F5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Payment processing: validate, debit/credit, record atomically</ns1:t>
            </ns1:r>
            <ns1:endParaRPr lang="en-US" sz="105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50" dirty="0">
                <ns1:solidFill>
                  <ns1:srgbClr val="1F5F5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CBDC: simulated central-bank-issued digital currency</ns1:t>
            </ns1:r>
            <ns1:endParaRPr lang="en-US" sz="105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50" dirty="0">
                <ns1:solidFill>
                  <ns1:srgbClr val="1F5F5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Open Banking: consent-based third-party account/payment access</ns1:t>
            </ns1:r>
            <ns1:endParaRPr lang="en-US" sz="105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50" dirty="0">
                <ns1:solidFill>
                  <ns1:srgbClr val="1F5F5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AI fraud detection: risk-scored, human-reviewed, never auto-blocked</ns1:t>
            </ns1:r>
            <ns1:endParaRPr lang="en-US" sz="1050" dirty="0"/>
          </ns1:p>
        </ns0:txBody>
      </ns0:sp>
      <ns0:sp>
        <ns0:nvSpPr>
          <ns0:cNvPr id="14" name="Shape 11"/>
          <ns0:cNvSpPr/>
          <ns0:nvPr/>
        </ns0:nvSpPr>
        <ns0:spPr>
          <ns1:xfrm>
            <ns1:off x="457200" y="4023360"/>
            <ns1:ext cx="5577840" cy="1554480"/>
          </ns1:xfrm>
          <ns1:prstGeom prst="roundRect">
            <ns1:avLst>
              <ns1:gd name="adj" fmla="val 4706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5" name="Text 12"/>
          <ns0:cNvSpPr/>
          <ns0:nvPr/>
        </ns0:nvSpPr>
        <ns0:spPr>
          <ns1:xfrm>
            <ns1:off x="621792" y="4133088"/>
            <ns1:ext cx="5248656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Management-facing (Modules 3-5)</ns1:t>
            </ns1:r>
            <ns1:endParaRPr lang="en-US" sz="1200" dirty="0"/>
          </ns1:p>
        </ns0:txBody>
      </ns0:sp>
      <ns0:sp>
        <ns0:nvSpPr>
          <ns0:cNvPr id="16" name="Text 13"/>
          <ns0:cNvSpPr/>
          <ns0:nvPr/>
        </ns0:nvSpPr>
        <ns0:spPr>
          <ns1:xfrm>
            <ns1:off x="621792" y="4443984"/>
            <ns1:ext cx="5248656" cy="1042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0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Fraud alerts and investigation history</ns1:t>
            </ns1:r>
            <ns1:endParaRPr lang="en-US" sz="100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0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API activity and health monitoring</ns1:t>
            </ns1:r>
            <ns1:endParaRPr lang="en-US" sz="100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0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Executive KPIs and financial trend reports</ns1:t>
            </ns1:r>
            <ns1:endParaRPr lang="en-US" sz="1000" dirty="0"/>
          </ns1:p>
        </ns0:txBody>
      </ns0:sp>
      <ns0:sp>
        <ns0:nvSpPr>
          <ns0:cNvPr id="17" name="Shape 14"/>
          <ns0:cNvSpPr/>
          <ns0:nvPr/>
        </ns0:nvSpPr>
        <ns0:spPr>
          <ns1:xfrm>
            <ns1:off x="6309360" y="4023360"/>
            <ns1:ext cx="5394960" cy="1554480"/>
          </ns1:xfrm>
          <ns1:prstGeom prst="roundRect">
            <ns1:avLst>
              <ns1:gd name="adj" fmla="val 4706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8" name="Text 15"/>
          <ns0:cNvSpPr/>
          <ns0:nvPr/>
        </ns0:nvSpPr>
        <ns0:spPr>
          <ns1:xfrm>
            <ns1:off x="6473952" y="4133088"/>
            <ns1:ext cx="5065776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20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Customer/merchant-facing (Modules 1-2)</ns1:t>
            </ns1:r>
            <ns1:endParaRPr lang="en-US" sz="1200" dirty="0"/>
          </ns1:p>
        </ns0:txBody>
      </ns0:sp>
      <ns0:sp>
        <ns0:nvSpPr>
          <ns0:cNvPr id="19" name="Text 16"/>
          <ns0:cNvSpPr/>
          <ns0:nvPr/>
        </ns0:nvSpPr>
        <ns0:spPr>
          <ns1:xfrm>
            <ns1:off x="6473952" y="4443984"/>
            <ns1:ext cx="5065776" cy="104241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0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Registration, wallet balance and activity</ns1:t>
            </ns1:r>
            <ns1:endParaRPr lang="en-US" sz="100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0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Payments, transfers and merchant charges</ns1:t>
            </ns1:r>
            <ns1:endParaRPr lang="en-US" sz="100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0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Personal and settlement transaction history</ns1:t>
            </ns1:r>
            <ns1:endParaRPr lang="en-US" sz="1000" dirty="0"/>
          </ns1:p>
        </ns0:txBody>
      </ns0: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five modules connect — big picture before the detail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3657600" cy="749808"/>
          </a:xfrm>
          <a:prstGeom prst="roundRect">
            <a:avLst>
              <a:gd name="adj" fmla="val 7317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0424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Wallets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" y="128016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982712" y="868680"/>
            <a:ext cx="3657600" cy="749808"/>
          </a:xfrm>
          <a:prstGeom prst="roundRect">
            <a:avLst>
              <a:gd name="adj" fmla="val 7317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37576" y="10424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Payments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37576" y="128016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DSS, ISO 20022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3657600" cy="749808"/>
          </a:xfrm>
          <a:prstGeom prst="roundRect">
            <a:avLst>
              <a:gd name="adj" fmla="val 7317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20482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Fraud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" y="228600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42001, NIST AI RMF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82712" y="1874520"/>
            <a:ext cx="3657600" cy="749808"/>
          </a:xfrm>
          <a:prstGeom prst="roundRect">
            <a:avLst>
              <a:gd name="adj" fmla="val 7317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37576" y="20482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Open Banking / CBDC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37576" y="228600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OAuth2, Open Banking Std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0" y="1093622"/>
            <a:ext cx="3776472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297680" y="8321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 check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flipH="1">
            <a:off x="3566160" y="1618488"/>
            <a:ext cx="5056632" cy="25603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3017520" y="1645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stream / decision feedback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V="1">
            <a:off x="9262872" y="1618488"/>
            <a:ext cx="182880" cy="25603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040880" y="1645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 (PIS)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28803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3A2E6E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3522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single source of truth for all 5 modules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3191256"/>
            <a:ext cx="11091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sits alongside for caching and rate-limiting only — never the source of truth for a balance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77440" y="1618488"/>
            <a:ext cx="9144" cy="1261872"/>
          </a:xfrm>
          <a:prstGeom prst="line">
            <a:avLst/>
          </a:prstGeom>
          <a:noFill/>
          <a:ln w="17780">
            <a:solidFill>
              <a:srgbClr val="8888A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11512" y="1618488"/>
            <a:ext cx="9144" cy="1261872"/>
          </a:xfrm>
          <a:prstGeom prst="line">
            <a:avLst/>
          </a:prstGeom>
          <a:noFill/>
          <a:ln w="17780">
            <a:solidFill>
              <a:srgbClr val="8888A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377440" y="2624328"/>
            <a:ext cx="9144" cy="256032"/>
          </a:xfrm>
          <a:prstGeom prst="line">
            <a:avLst/>
          </a:prstGeom>
          <a:noFill/>
          <a:ln w="17780">
            <a:solidFill>
              <a:srgbClr val="8888A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811512" y="2624328"/>
            <a:ext cx="9144" cy="256032"/>
          </a:xfrm>
          <a:prstGeom prst="line">
            <a:avLst/>
          </a:prstGeom>
          <a:noFill/>
          <a:ln w="17780">
            <a:solidFill>
              <a:srgbClr val="8888A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265676" y="3794760"/>
            <a:ext cx="3657600" cy="749808"/>
          </a:xfrm>
          <a:prstGeom prst="roundRect">
            <a:avLst>
              <a:gd name="adj" fmla="val 7317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0540" y="39684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Executive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20540" y="420624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&amp; leadership view — read only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94476" y="3447288"/>
            <a:ext cx="9144" cy="347472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3717036" y="34747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only — KPIs, alerts, activity, API health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" y="4709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Wallets/identity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0" y="4709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80944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37760" y="4709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75504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32320" y="4709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70064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Banking/CBDC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326880" y="470916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64624" y="4709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502920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every module writes to PostgreSQL directly — the only module-to-module arrows are the two named above, and Module 5 reads, never writes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ns0:sld xmlns:ns0="http://schemas.openxmlformats.org/presentationml/2006/main" xmlns:ns1="http://schemas.openxmlformats.org/drawingml/2006/main">
  <ns0:cSld name="Slide 6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82296" cy="6858000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3" name="Shape 1"/>
          <ns0:cNvSpPr/>
          <ns0:nvPr/>
        </ns0:nvSpPr>
        <ns0:spPr>
          <ns1:xfrm>
            <ns1:off x="292608" y="182880"/>
            <ns1:ext cx="310896" cy="310896"/>
          </ns1:xfrm>
          <ns1:prstGeom prst="roundRect">
            <ns1:avLst>
              <ns1:gd name="adj" fmla="val 28000"/>
            </ns1:avLst>
          </ns1:prstGeom>
          <ns1:solidFill>
            <ns1:srgbClr val="1E2761"/>
          </ns1:solidFill>
          <ns1:ln/>
        </ns0:spPr>
      </ns0:sp>
      <ns0:sp>
        <ns0:nvSpPr>
          <ns0:cNvPr id="4" name="Text 2"/>
          <ns0:cNvSpPr/>
          <ns0:nvPr/>
        </ns0:nvSpPr>
        <ns0:spPr>
          <ns1:xfrm>
            <ns1:off x="292608" y="182880"/>
            <ns1:ext cx="310896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28" b="1" dirty="0">
                <ns1:solidFill>
                  <ns1:srgbClr val="FFFFFF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G</ns1:t>
            </ns1:r>
            <ns1:endParaRPr lang="en-US" sz="1428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749808" y="201168"/>
            <ns1:ext cx="1417320" cy="292608"/>
          </ns1:xfrm>
          <ns1:prstGeom prst="roundRect">
            <ns1:avLst>
              <ns1:gd name="adj" fmla="val 18750"/>
            </ns1:avLst>
          </ns1:prstGeom>
          <ns1:solidFill>
            <ns1:srgbClr val="F0F2FA"/>
          </ns1:solidFill>
          <ns1:ln w="9525">
            <ns1:solidFill>
              <ns1:srgbClr val="1E2761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749808" y="201168"/>
            <ns1:ext cx="141732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5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MODULE 1</ns1:t>
            </ns1:r>
            <ns1:endParaRPr lang="en-US" sz="105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2331720" y="164592"/>
            <ns1:ext cx="909828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E2761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Customer &amp; Digital Wallet Management</ns1:t>
            </ns1:r>
            <ns1:endParaRPr lang="en-US" sz="20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49808" y="548640"/>
            <ns1:ext cx="1143000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55555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Registration, wallet creation, balance operations, merchant accounts</ns1:t>
            </ns1:r>
            <ns1:endParaRPr lang="en-US" sz="105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243687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249174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Customer</ns1:t>
            </ns1:r>
            <ns1:endParaRPr lang="en-US" sz="95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31139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436626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Merchant</ns1:t>
            </ns1:r>
            <ns1:endParaRPr lang="en-US" sz="95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18591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624078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Support (concept)</ns1:t>
            </ns1:r>
            <ns1:endParaRPr lang="en-US" sz="9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806043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811530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Admin/Ops</ns1:t>
            </ns1:r>
            <ns1:endParaRPr lang="en-US" sz="95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6094476" y="1179576"/>
            <ns1:ext cx="9144" cy="11887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18" name="Shape 16"/>
          <ns0:cNvSpPr/>
          <ns0:nvPr/>
        </ns0:nvSpPr>
        <ns0:spPr>
          <ns1:xfrm>
            <ns1:off x="539496" y="1298448"/>
            <ns1:ext cx="11109960" cy="365760"/>
          </ns1:xfrm>
          <ns1:prstGeom prst="roundRect">
            <ns1:avLst>
              <ns1:gd name="adj" fmla="val 15000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594360" y="1325880"/>
            <ns1:ext cx="110002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5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React frontend</ns1:t>
            </ns1:r>
            <ns1:endParaRPr lang="en-US" sz="105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594360" y="1527048"/>
            <ns1:ext cx="11000232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Register, login, wallet, merchant portal, reports</ns1:t>
            </ns1:r>
            <ns1:endParaRPr lang="en-US" sz="90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6094476" y="1664208"/>
            <ns1:ext cx="9144" cy="11887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22" name="Shape 20"/>
          <ns0:cNvSpPr/>
          <ns0:nvPr/>
        </ns0:nvSpPr>
        <ns0:spPr>
          <ns1:xfrm>
            <ns1:off x="539496" y="1783080"/>
            <ns1:ext cx="11109960" cy="1874520"/>
          </ns1:xfrm>
          <ns1:prstGeom prst="roundRect">
            <ns1:avLst>
              <ns1:gd name="adj" fmla="val 4878"/>
            </ns1:avLst>
          </ns1:prstGeom>
          <ns1:solidFill>
            <ns1:srgbClr val="FAFAFA"/>
          </ns1:solidFill>
          <ns1:ln w="12700">
            <ns1:solidFill>
              <ns1:srgbClr val="CCCCCC"/>
            </ns1:solidFill>
            <ns1:prstDash val="solid"/>
          </ns1:ln>
        </ns0:spPr>
      </ns0:sp>
      <ns0:sp>
        <ns0:nvSpPr>
          <ns0:cNvPr id="23" name="Text 21"/>
          <ns0:cNvSpPr/>
          <ns0:nvPr/>
        </ns0:nvSpPr>
        <ns0:spPr>
          <ns1:xfrm>
            <ns1:off x="539496" y="1837944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FastAPI — auth, customers, wallets (ISO 27001 baseline)</ns1:t>
            </ns1:r>
            <ns1:endParaRPr lang="en-US" sz="110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67665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25" name="Text 23"/>
          <ns0:cNvSpPr/>
          <ns0:nvPr/>
        </ns0:nvSpPr>
        <ns0:spPr>
          <ns1:xfrm>
            <ns1:off x="73152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Auth &amp; Identity</ns1:t>
            </ns1:r>
            <ns1:endParaRPr lang="en-US" sz="95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73152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JWT bearer and role-based access</ns1:t>
            </ns1:r>
            <ns1:endParaRPr lang="en-US" sz="9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436473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28" name="Text 26"/>
          <ns0:cNvSpPr/>
          <ns0:nvPr/>
        </ns0:nvSpPr>
        <ns0:spPr>
          <ns1:xfrm>
            <ns1:off x="441960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Customer svc</ns1:t>
            </ns1:r>
            <ns1:endParaRPr lang="en-US" sz="95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441960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Simulated KYC status</ns1:t>
            </ns1:r>
            <ns1:endParaRPr lang="en-US" sz="9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805281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810768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Wallet svc</ns1:t>
            </ns1:r>
            <ns1:endParaRPr lang="en-US" sz="950" dirty="0"/>
          </ns1:p>
        </ns0:txBody>
      </ns0:sp>
      <ns0:sp>
        <ns0:nvSpPr>
          <ns0:cNvPr id="32" name="Text 30"/>
          <ns0:cNvSpPr/>
          <ns0:nvPr/>
        </ns0:nvSpPr>
        <ns0:spPr>
          <ns1:xfrm>
            <ns1:off x="810768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Balance ops</ns1:t>
            </ns1:r>
            <ns1:endParaRPr lang="en-US" sz="900" dirty="0"/>
          </ns1:p>
        </ns0:txBody>
      </ns0:sp>
      <ns0:sp>
        <ns0:nvSpPr>
          <ns0:cNvPr id="33" name="Shape 31"/>
          <ns0:cNvSpPr/>
          <ns0:nvPr/>
        </ns0:nvSpPr>
        <ns0:spPr>
          <ns1:xfrm>
            <ns1:off x="67665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4" name="Text 32"/>
          <ns0:cNvSpPr/>
          <ns0:nvPr/>
        </ns0:nvSpPr>
        <ns0:spPr>
          <ns1:xfrm>
            <ns1:off x="73152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Activity log</ns1:t>
            </ns1:r>
            <ns1:endParaRPr lang="en-US" sz="950" dirty="0"/>
          </ns1:p>
        </ns0:txBody>
      </ns0:sp>
      <ns0:sp>
        <ns0:nvSpPr>
          <ns0:cNvPr id="35" name="Text 33"/>
          <ns0:cNvSpPr/>
          <ns0:nvPr/>
        </ns0:nvSpPr>
        <ns0:spPr>
          <ns1:xfrm>
            <ns1:off x="73152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Txn history</ns1:t>
            </ns1:r>
            <ns1:endParaRPr lang="en-US" sz="90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436473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7" name="Text 35"/>
          <ns0:cNvSpPr/>
          <ns0:nvPr/>
        </ns0:nvSpPr>
        <ns0:spPr>
          <ns1:xfrm>
            <ns1:off x="441960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Merchant svc</ns1:t>
            </ns1:r>
            <ns1:endParaRPr lang="en-US" sz="950" dirty="0"/>
          </ns1:p>
        </ns0:txBody>
      </ns0:sp>
      <ns0:sp>
        <ns0:nvSpPr>
          <ns0:cNvPr id="38" name="Text 36"/>
          <ns0:cNvSpPr/>
          <ns0:nvPr/>
        </ns0:nvSpPr>
        <ns0:spPr>
          <ns1:xfrm>
            <ns1:off x="441960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Onboarding</ns1:t>
            </ns1:r>
            <ns1:endParaRPr lang="en-US" sz="900" dirty="0"/>
          </ns1:p>
        </ns0:txBody>
      </ns0:sp>
      <ns0:sp>
        <ns0:nvSpPr>
          <ns0:cNvPr id="39" name="Shape 37"/>
          <ns0:cNvSpPr/>
          <ns0:nvPr/>
        </ns0:nvSpPr>
        <ns0:spPr>
          <ns1:xfrm>
            <ns1:off x="805281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40" name="Text 38"/>
          <ns0:cNvSpPr/>
          <ns0:nvPr/>
        </ns0:nvSpPr>
        <ns0:spPr>
          <ns1:xfrm>
            <ns1:off x="810768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Reporting svc</ns1:t>
            </ns1:r>
            <ns1:endParaRPr lang="en-US" sz="950" dirty="0"/>
          </ns1:p>
        </ns0:txBody>
      </ns0:sp>
      <ns0:sp>
        <ns0:nvSpPr>
          <ns0:cNvPr id="41" name="Text 39"/>
          <ns0:cNvSpPr/>
          <ns0:nvPr/>
        </ns0:nvSpPr>
        <ns0:spPr>
          <ns1:xfrm>
            <ns1:off x="810768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Stats &amp; KPIs</ns1:t>
            </ns1:r>
            <ns1:endParaRPr lang="en-US" sz="900" dirty="0"/>
          </ns1:p>
        </ns0:txBody>
      </ns0:sp>
      <ns0:sp>
        <ns0:nvSpPr>
          <ns0:cNvPr id="42" name="Shape 40"/>
          <ns0:cNvSpPr/>
          <ns0:nvPr/>
        </ns0:nvSpPr>
        <ns0:spPr>
          <ns1:xfrm>
            <ns1:off x="6094476" y="3026664"/>
            <ns1:ext cx="9144" cy="7315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43" name="Shape 41"/>
          <ns0:cNvSpPr/>
          <ns0:nvPr/>
        </ns0:nvSpPr>
        <ns0:spPr>
          <ns1:xfrm>
            <ns1:off x="6766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4" name="Text 42"/>
          <ns0:cNvSpPr/>
          <ns0:nvPr/>
        </ns0:nvSpPr>
        <ns0:spPr>
          <ns1:xfrm>
            <ns1:off x="7315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customers</ns1:t>
            </ns1:r>
            <ns1:endParaRPr lang="en-US" sz="900" dirty="0"/>
          </ns1:p>
        </ns0:txBody>
      </ns0:sp>
      <ns0:sp>
        <ns0:nvSpPr>
          <ns0:cNvPr id="45" name="Shape 43"/>
          <ns0:cNvSpPr/>
          <ns0:nvPr/>
        </ns0:nvSpPr>
        <ns0:spPr>
          <ns1:xfrm>
            <ns1:off x="34198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6" name="Text 44"/>
          <ns0:cNvSpPr/>
          <ns0:nvPr/>
        </ns0:nvSpPr>
        <ns0:spPr>
          <ns1:xfrm>
            <ns1:off x="34747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wallets</ns1:t>
            </ns1:r>
            <ns1:endParaRPr lang="en-US" sz="900" dirty="0"/>
          </ns1:p>
        </ns0:txBody>
      </ns0:sp>
      <ns0:sp>
        <ns0:nvSpPr>
          <ns0:cNvPr id="47" name="Shape 45"/>
          <ns0:cNvSpPr/>
          <ns0:nvPr/>
        </ns0:nvSpPr>
        <ns0:spPr>
          <ns1:xfrm>
            <ns1:off x="61630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8" name="Text 46"/>
          <ns0:cNvSpPr/>
          <ns0:nvPr/>
        </ns0:nvSpPr>
        <ns0:spPr>
          <ns1:xfrm>
            <ns1:off x="62179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ledger_entries</ns1:t>
            </ns1:r>
            <ns1:endParaRPr lang="en-US" sz="900" dirty="0"/>
          </ns1:p>
        </ns0:txBody>
      </ns0:sp>
      <ns0:sp>
        <ns0:nvSpPr>
          <ns0:cNvPr id="49" name="Shape 47"/>
          <ns0:cNvSpPr/>
          <ns0:nvPr/>
        </ns0:nvSpPr>
        <ns0:spPr>
          <ns1:xfrm>
            <ns1:off x="89062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50" name="Text 48"/>
          <ns0:cNvSpPr/>
          <ns0:nvPr/>
        </ns0:nvSpPr>
        <ns0:spPr>
          <ns1:xfrm>
            <ns1:off x="89611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merchants</ns1:t>
            </ns1:r>
            <ns1:endParaRPr lang="en-US" sz="900" dirty="0"/>
          </ns1:p>
        </ns0:txBody>
      </ns0:sp>
      <ns0:sp>
        <ns0:nvSpPr>
          <ns0:cNvPr id="51" name="Text 49"/>
          <ns0:cNvSpPr/>
          <ns0:nvPr/>
        </ns0:nvSpPr>
        <ns0:spPr>
          <ns1:xfrm>
            <ns1:off x="539496" y="3767328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l" indent="0" marL="0">
              <ns1:buNone/>
            </ns1:pPr>
            <ns1:r>
              <ns1:rPr lang="en-US" sz="950" i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Registration &amp; wallet creation:</ns1:t>
            </ns1:r>
            <ns1:endParaRPr lang="en-US" sz="950" dirty="0"/>
          </ns1:p>
        </ns0:txBody>
      </ns0:sp>
      <ns0:sp>
        <ns0:nvSpPr>
          <ns0:cNvPr id="52" name="Shape 50"/>
          <ns0:cNvSpPr/>
          <ns0:nvPr/>
        </ns0:nvSpPr>
        <ns0:spPr>
          <ns1:xfrm>
            <ns1:off x="53949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53" name="Text 51"/>
          <ns0:cNvSpPr/>
          <ns0:nvPr/>
        </ns0:nvSpPr>
        <ns0:spPr>
          <ns1:xfrm>
            <ns1:off x="59436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1. Submit</ns1:t>
            </ns1:r>
            <ns1:endParaRPr lang="en-US" sz="1000" dirty="0"/>
          </ns1:p>
        </ns0:txBody>
      </ns0:sp>
      <ns0:sp>
        <ns0:nvSpPr>
          <ns0:cNvPr id="54" name="Text 52"/>
          <ns0:cNvSpPr/>
          <ns0:nvPr/>
        </ns0:nvSpPr>
        <ns0:spPr>
          <ns1:xfrm>
            <ns1:off x="59436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Fills the form</ns1:t>
            </ns1:r>
            <ns1:endParaRPr lang="en-US" sz="900" dirty="0"/>
          </ns1:p>
        </ns0:txBody>
      </ns0:sp>
      <ns0:sp>
        <ns0:nvSpPr>
          <ns0:cNvPr id="55" name="Shape 53"/>
          <ns0:cNvSpPr/>
          <ns0:nvPr/>
        </ns0:nvSpPr>
        <ns0:spPr>
          <ns1:xfrm>
            <ns1:off x="227685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56" name="Shape 54"/>
          <ns0:cNvSpPr/>
          <ns0:nvPr/>
        </ns0:nvSpPr>
        <ns0:spPr>
          <ns1:xfrm>
            <ns1:off x="241401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57" name="Text 55"/>
          <ns0:cNvSpPr/>
          <ns0:nvPr/>
        </ns0:nvSpPr>
        <ns0:spPr>
          <ns1:xfrm>
            <ns1:off x="246888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2. Validate</ns1:t>
            </ns1:r>
            <ns1:endParaRPr lang="en-US" sz="1000" dirty="0"/>
          </ns1:p>
        </ns0:txBody>
      </ns0:sp>
      <ns0:sp>
        <ns0:nvSpPr>
          <ns0:cNvPr id="58" name="Text 56"/>
          <ns0:cNvSpPr/>
          <ns0:nvPr/>
        </ns0:nvSpPr>
        <ns0:spPr>
          <ns1:xfrm>
            <ns1:off x="246888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Checks input</ns1:t>
            </ns1:r>
            <ns1:endParaRPr lang="en-US" sz="900" dirty="0"/>
          </ns1:p>
        </ns0:txBody>
      </ns0:sp>
      <ns0:sp>
        <ns0:nvSpPr>
          <ns0:cNvPr id="59" name="Shape 57"/>
          <ns0:cNvSpPr/>
          <ns0:nvPr/>
        </ns0:nvSpPr>
        <ns0:spPr>
          <ns1:xfrm>
            <ns1:off x="415137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0" name="Shape 58"/>
          <ns0:cNvSpPr/>
          <ns0:nvPr/>
        </ns0:nvSpPr>
        <ns0:spPr>
          <ns1:xfrm>
            <ns1:off x="428853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61" name="Text 59"/>
          <ns0:cNvSpPr/>
          <ns0:nvPr/>
        </ns0:nvSpPr>
        <ns0:spPr>
          <ns1:xfrm>
            <ns1:off x="434340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3. Hash + secure</ns1:t>
            </ns1:r>
            <ns1:endParaRPr lang="en-US" sz="1000" dirty="0"/>
          </ns1:p>
        </ns0:txBody>
      </ns0:sp>
      <ns0:sp>
        <ns0:nvSpPr>
          <ns0:cNvPr id="62" name="Text 60"/>
          <ns0:cNvSpPr/>
          <ns0:nvPr/>
        </ns0:nvSpPr>
        <ns0:spPr>
          <ns1:xfrm>
            <ns1:off x="434340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Credential + PII protection</ns1:t>
            </ns1:r>
            <ns1:endParaRPr lang="en-US" sz="900" dirty="0"/>
          </ns1:p>
        </ns0:txBody>
      </ns0:sp>
      <ns0:sp>
        <ns0:nvSpPr>
          <ns0:cNvPr id="63" name="Shape 61"/>
          <ns0:cNvSpPr/>
          <ns0:nvPr/>
        </ns0:nvSpPr>
        <ns0:spPr>
          <ns1:xfrm>
            <ns1:off x="602589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4" name="Shape 62"/>
          <ns0:cNvSpPr/>
          <ns0:nvPr/>
        </ns0:nvSpPr>
        <ns0:spPr>
          <ns1:xfrm>
            <ns1:off x="616305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65" name="Text 63"/>
          <ns0:cNvSpPr/>
          <ns0:nvPr/>
        </ns0:nvSpPr>
        <ns0:spPr>
          <ns1:xfrm>
            <ns1:off x="621792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4. New wallet</ns1:t>
            </ns1:r>
            <ns1:endParaRPr lang="en-US" sz="1000" dirty="0"/>
          </ns1:p>
        </ns0:txBody>
      </ns0:sp>
      <ns0:sp>
        <ns0:nvSpPr>
          <ns0:cNvPr id="66" name="Text 64"/>
          <ns0:cNvSpPr/>
          <ns0:nvPr/>
        </ns0:nvSpPr>
        <ns0:spPr>
          <ns1:xfrm>
            <ns1:off x="621792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Auto-created</ns1:t>
            </ns1:r>
            <ns1:endParaRPr lang="en-US" sz="900" dirty="0"/>
          </ns1:p>
        </ns0:txBody>
      </ns0:sp>
      <ns0:sp>
        <ns0:nvSpPr>
          <ns0:cNvPr id="67" name="Shape 65"/>
          <ns0:cNvSpPr/>
          <ns0:nvPr/>
        </ns0:nvSpPr>
        <ns0:spPr>
          <ns1:xfrm>
            <ns1:off x="790041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8" name="Shape 66"/>
          <ns0:cNvSpPr/>
          <ns0:nvPr/>
        </ns0:nvSpPr>
        <ns0:spPr>
          <ns1:xfrm>
            <ns1:off x="803757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69" name="Text 67"/>
          <ns0:cNvSpPr/>
          <ns0:nvPr/>
        </ns0:nvSpPr>
        <ns0:spPr>
          <ns1:xfrm>
            <ns1:off x="809244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5. Balance = 0</ns1:t>
            </ns1:r>
            <ns1:endParaRPr lang="en-US" sz="1000" dirty="0"/>
          </ns1:p>
        </ns0:txBody>
      </ns0:sp>
      <ns0:sp>
        <ns0:nvSpPr>
          <ns0:cNvPr id="70" name="Text 68"/>
          <ns0:cNvSpPr/>
          <ns0:nvPr/>
        </ns0:nvSpPr>
        <ns0:spPr>
          <ns1:xfrm>
            <ns1:off x="809244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Initial state</ns1:t>
            </ns1:r>
            <ns1:endParaRPr lang="en-US" sz="900" dirty="0"/>
          </ns1:p>
        </ns0:txBody>
      </ns0:sp>
      <ns0:sp>
        <ns0:nvSpPr>
          <ns0:cNvPr id="71" name="Shape 69"/>
          <ns0:cNvSpPr/>
          <ns0:nvPr/>
        </ns0:nvSpPr>
        <ns0:spPr>
          <ns1:xfrm>
            <ns1:off x="977493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72" name="Shape 70"/>
          <ns0:cNvSpPr/>
          <ns0:nvPr/>
        </ns0:nvSpPr>
        <ns0:spPr>
          <ns1:xfrm>
            <ns1:off x="991209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73" name="Text 71"/>
          <ns0:cNvSpPr/>
          <ns0:nvPr/>
        </ns0:nvSpPr>
        <ns0:spPr>
          <ns1:xfrm>
            <ns1:off x="996696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6. Confirm</ns1:t>
            </ns1:r>
            <ns1:endParaRPr lang="en-US" sz="1000" dirty="0"/>
          </ns1:p>
        </ns0:txBody>
      </ns0:sp>
      <ns0:sp>
        <ns0:nvSpPr>
          <ns0:cNvPr id="74" name="Text 72"/>
          <ns0:cNvSpPr/>
          <ns0:nvPr/>
        </ns0:nvSpPr>
        <ns0:spPr>
          <ns1:xfrm>
            <ns1:off x="996696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Success shown</ns1:t>
            </ns1:r>
            <ns1:endParaRPr lang="en-US" sz="900" dirty="0"/>
          </ns1:p>
        </ns0:txBody>
      </ns0:sp>
      <ns0:sp>
        <ns0:nvSpPr>
          <ns0:cNvPr id="75" name="Text 73"/>
          <ns0:cNvSpPr/>
          <ns0:nvPr/>
        </ns0:nvSpPr>
        <ns0:spPr>
          <ns1:xfrm>
            <ns1:off x="539496" y="4965192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i="1" dirty="0">
                <ns1:solidFill>
                  <ns1:srgbClr val="666666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Argon2id password hashing + encrypted/masked PII fields — ISO 27018, COBIT 2019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 name="Slide 7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82296" cy="6858000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3" name="Shape 1"/>
          <ns0:cNvSpPr/>
          <ns0:nvPr/>
        </ns0:nvSpPr>
        <ns0:spPr>
          <ns1:xfrm>
            <ns1:off x="292608" y="182880"/>
            <ns1:ext cx="310896" cy="310896"/>
          </ns1:xfrm>
          <ns1:prstGeom prst="roundRect">
            <ns1:avLst>
              <ns1:gd name="adj" fmla="val 28000"/>
            </ns1:avLst>
          </ns1:prstGeom>
          <ns1:solidFill>
            <ns1:srgbClr val="1E2761"/>
          </ns1:solidFill>
          <ns1:ln/>
        </ns0:spPr>
      </ns0:sp>
      <ns0:sp>
        <ns0:nvSpPr>
          <ns0:cNvPr id="4" name="Text 2"/>
          <ns0:cNvSpPr/>
          <ns0:nvPr/>
        </ns0:nvSpPr>
        <ns0:spPr>
          <ns1:xfrm>
            <ns1:off x="292608" y="182880"/>
            <ns1:ext cx="310896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28" b="1" dirty="0">
                <ns1:solidFill>
                  <ns1:srgbClr val="FFFFFF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G</ns1:t>
            </ns1:r>
            <ns1:endParaRPr lang="en-US" sz="1428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749808" y="201168"/>
            <ns1:ext cx="1417320" cy="292608"/>
          </ns1:xfrm>
          <ns1:prstGeom prst="roundRect">
            <ns1:avLst>
              <ns1:gd name="adj" fmla="val 18750"/>
            </ns1:avLst>
          </ns1:prstGeom>
          <ns1:solidFill>
            <ns1:srgbClr val="F0F2FA"/>
          </ns1:solidFill>
          <ns1:ln w="9525">
            <ns1:solidFill>
              <ns1:srgbClr val="1E2761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749808" y="201168"/>
            <ns1:ext cx="141732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5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MODULE 2</ns1:t>
            </ns1:r>
            <ns1:endParaRPr lang="en-US" sz="105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2331720" y="164592"/>
            <ns1:ext cx="909828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E2761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Digital Payment Processing</ns1:t>
            </ns1:r>
            <ns1:endParaRPr lang="en-US" sz="20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49808" y="548640"/>
            <ns1:ext cx="1143000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55555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Validation, double-entry ledger, transfers, merchant charges</ns1:t>
            </ns1:r>
            <ns1:endParaRPr lang="en-US" sz="105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243687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249174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Customer</ns1:t>
            </ns1:r>
            <ns1:endParaRPr lang="en-US" sz="95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31139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436626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Merchant</ns1:t>
            </ns1:r>
            <ns1:endParaRPr lang="en-US" sz="95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18591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624078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Finance</ns1:t>
            </ns1:r>
            <ns1:endParaRPr lang="en-US" sz="9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806043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811530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Compliance</ns1:t>
            </ns1:r>
            <ns1:endParaRPr lang="en-US" sz="95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6094476" y="1179576"/>
            <ns1:ext cx="9144" cy="11887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18" name="Shape 16"/>
          <ns0:cNvSpPr/>
          <ns0:nvPr/>
        </ns0:nvSpPr>
        <ns0:spPr>
          <ns1:xfrm>
            <ns1:off x="539496" y="1298448"/>
            <ns1:ext cx="11109960" cy="365760"/>
          </ns1:xfrm>
          <ns1:prstGeom prst="roundRect">
            <ns1:avLst>
              <ns1:gd name="adj" fmla="val 15000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594360" y="1325880"/>
            <ns1:ext cx="110002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5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React frontend</ns1:t>
            </ns1:r>
            <ns1:endParaRPr lang="en-US" sz="105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594360" y="1527048"/>
            <ns1:ext cx="11000232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Pay, transfer, view history, dashboards</ns1:t>
            </ns1:r>
            <ns1:endParaRPr lang="en-US" sz="90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6094476" y="1664208"/>
            <ns1:ext cx="9144" cy="11887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22" name="Shape 20"/>
          <ns0:cNvSpPr/>
          <ns0:nvPr/>
        </ns0:nvSpPr>
        <ns0:spPr>
          <ns1:xfrm>
            <ns1:off x="539496" y="1783080"/>
            <ns1:ext cx="11109960" cy="1874520"/>
          </ns1:xfrm>
          <ns1:prstGeom prst="roundRect">
            <ns1:avLst>
              <ns1:gd name="adj" fmla="val 4878"/>
            </ns1:avLst>
          </ns1:prstGeom>
          <ns1:solidFill>
            <ns1:srgbClr val="FAFAFA"/>
          </ns1:solidFill>
          <ns1:ln w="12700">
            <ns1:solidFill>
              <ns1:srgbClr val="CCCCCC"/>
            </ns1:solidFill>
            <ns1:prstDash val="solid"/>
          </ns1:ln>
        </ns0:spPr>
      </ns0:sp>
      <ns0:sp>
        <ns0:nvSpPr>
          <ns0:cNvPr id="23" name="Text 21"/>
          <ns0:cNvSpPr/>
          <ns0:nvPr/>
        </ns0:nvSpPr>
        <ns0:spPr>
          <ns1:xfrm>
            <ns1:off x="539496" y="1837944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FastAPI — payments (PCI DSS conceptual alignment, ISO 20022)</ns1:t>
            </ns1:r>
            <ns1:endParaRPr lang="en-US" sz="110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67665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25" name="Text 23"/>
          <ns0:cNvSpPr/>
          <ns0:nvPr/>
        </ns0:nvSpPr>
        <ns0:spPr>
          <ns1:xfrm>
            <ns1:off x="73152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Validation svc</ns1:t>
            </ns1:r>
            <ns1:endParaRPr lang="en-US" sz="95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73152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Validation controls</ns1:t>
            </ns1:r>
            <ns1:endParaRPr lang="en-US" sz="9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436473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28" name="Text 26"/>
          <ns0:cNvSpPr/>
          <ns0:nvPr/>
        </ns0:nvSpPr>
        <ns0:spPr>
          <ns1:xfrm>
            <ns1:off x="441960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Txn engine</ns1:t>
            </ns1:r>
            <ns1:endParaRPr lang="en-US" sz="95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441960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State machine</ns1:t>
            </ns1:r>
            <ns1:endParaRPr lang="en-US" sz="9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805281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810768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Ledger svc</ns1:t>
            </ns1:r>
            <ns1:endParaRPr lang="en-US" sz="950" dirty="0"/>
          </ns1:p>
        </ns0:txBody>
      </ns0:sp>
      <ns0:sp>
        <ns0:nvSpPr>
          <ns0:cNvPr id="32" name="Text 30"/>
          <ns0:cNvSpPr/>
          <ns0:nvPr/>
        </ns0:nvSpPr>
        <ns0:spPr>
          <ns1:xfrm>
            <ns1:off x="810768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Double-entry</ns1:t>
            </ns1:r>
            <ns1:endParaRPr lang="en-US" sz="900" dirty="0"/>
          </ns1:p>
        </ns0:txBody>
      </ns0:sp>
      <ns0:sp>
        <ns0:nvSpPr>
          <ns0:cNvPr id="33" name="Shape 31"/>
          <ns0:cNvSpPr/>
          <ns0:nvPr/>
        </ns0:nvSpPr>
        <ns0:spPr>
          <ns1:xfrm>
            <ns1:off x="67665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4" name="Text 32"/>
          <ns0:cNvSpPr/>
          <ns0:nvPr/>
        </ns0:nvSpPr>
        <ns0:spPr>
          <ns1:xfrm>
            <ns1:off x="73152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Transfer svc</ns1:t>
            </ns1:r>
            <ns1:endParaRPr lang="en-US" sz="950" dirty="0"/>
          </ns1:p>
        </ns0:txBody>
      </ns0:sp>
      <ns0:sp>
        <ns0:nvSpPr>
          <ns0:cNvPr id="35" name="Text 33"/>
          <ns0:cNvSpPr/>
          <ns0:nvPr/>
        </ns0:nvSpPr>
        <ns0:spPr>
          <ns1:xfrm>
            <ns1:off x="73152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P2P transfers</ns1:t>
            </ns1:r>
            <ns1:endParaRPr lang="en-US" sz="90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436473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7" name="Text 35"/>
          <ns0:cNvSpPr/>
          <ns0:nvPr/>
        </ns0:nvSpPr>
        <ns0:spPr>
          <ns1:xfrm>
            <ns1:off x="441960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Merchant svc</ns1:t>
            </ns1:r>
            <ns1:endParaRPr lang="en-US" sz="950" dirty="0"/>
          </ns1:p>
        </ns0:txBody>
      </ns0:sp>
      <ns0:sp>
        <ns0:nvSpPr>
          <ns0:cNvPr id="38" name="Text 36"/>
          <ns0:cNvSpPr/>
          <ns0:nvPr/>
        </ns0:nvSpPr>
        <ns0:spPr>
          <ns1:xfrm>
            <ns1:off x="441960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Simulated charges</ns1:t>
            </ns1:r>
            <ns1:endParaRPr lang="en-US" sz="900" dirty="0"/>
          </ns1:p>
        </ns0:txBody>
      </ns0:sp>
      <ns0:sp>
        <ns0:nvSpPr>
          <ns0:cNvPr id="39" name="Shape 37"/>
          <ns0:cNvSpPr/>
          <ns0:nvPr/>
        </ns0:nvSpPr>
        <ns0:spPr>
          <ns1:xfrm>
            <ns1:off x="805281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40" name="Text 38"/>
          <ns0:cNvSpPr/>
          <ns0:nvPr/>
        </ns0:nvSpPr>
        <ns0:spPr>
          <ns1:xfrm>
            <ns1:off x="810768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Reporting svc</ns1:t>
            </ns1:r>
            <ns1:endParaRPr lang="en-US" sz="950" dirty="0"/>
          </ns1:p>
        </ns0:txBody>
      </ns0:sp>
      <ns0:sp>
        <ns0:nvSpPr>
          <ns0:cNvPr id="41" name="Text 39"/>
          <ns0:cNvSpPr/>
          <ns0:nvPr/>
        </ns0:nvSpPr>
        <ns0:spPr>
          <ns1:xfrm>
            <ns1:off x="810768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Dashboards</ns1:t>
            </ns1:r>
            <ns1:endParaRPr lang="en-US" sz="900" dirty="0"/>
          </ns1:p>
        </ns0:txBody>
      </ns0:sp>
      <ns0:sp>
        <ns0:nvSpPr>
          <ns0:cNvPr id="42" name="Shape 40"/>
          <ns0:cNvSpPr/>
          <ns0:nvPr/>
        </ns0:nvSpPr>
        <ns0:spPr>
          <ns1:xfrm>
            <ns1:off x="6094476" y="3026664"/>
            <ns1:ext cx="9144" cy="7315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43" name="Shape 41"/>
          <ns0:cNvSpPr/>
          <ns0:nvPr/>
        </ns0:nvSpPr>
        <ns0:spPr>
          <ns1:xfrm>
            <ns1:off x="6766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4" name="Text 42"/>
          <ns0:cNvSpPr/>
          <ns0:nvPr/>
        </ns0:nvSpPr>
        <ns0:spPr>
          <ns1:xfrm>
            <ns1:off x="7315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txns</ns1:t>
            </ns1:r>
            <ns1:endParaRPr lang="en-US" sz="900" dirty="0"/>
          </ns1:p>
        </ns0:txBody>
      </ns0:sp>
      <ns0:sp>
        <ns0:nvSpPr>
          <ns0:cNvPr id="45" name="Shape 43"/>
          <ns0:cNvSpPr/>
          <ns0:nvPr/>
        </ns0:nvSpPr>
        <ns0:spPr>
          <ns1:xfrm>
            <ns1:off x="34198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6" name="Text 44"/>
          <ns0:cNvSpPr/>
          <ns0:nvPr/>
        </ns0:nvSpPr>
        <ns0:spPr>
          <ns1:xfrm>
            <ns1:off x="34747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ledger</ns1:t>
            </ns1:r>
            <ns1:endParaRPr lang="en-US" sz="900" dirty="0"/>
          </ns1:p>
        </ns0:txBody>
      </ns0:sp>
      <ns0:sp>
        <ns0:nvSpPr>
          <ns0:cNvPr id="47" name="Shape 45"/>
          <ns0:cNvSpPr/>
          <ns0:nvPr/>
        </ns0:nvSpPr>
        <ns0:spPr>
          <ns1:xfrm>
            <ns1:off x="61630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8" name="Text 46"/>
          <ns0:cNvSpPr/>
          <ns0:nvPr/>
        </ns0:nvSpPr>
        <ns0:spPr>
          <ns1:xfrm>
            <ns1:off x="62179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transfers</ns1:t>
            </ns1:r>
            <ns1:endParaRPr lang="en-US" sz="900" dirty="0"/>
          </ns1:p>
        </ns0:txBody>
      </ns0:sp>
      <ns0:sp>
        <ns0:nvSpPr>
          <ns0:cNvPr id="49" name="Shape 47"/>
          <ns0:cNvSpPr/>
          <ns0:nvPr/>
        </ns0:nvSpPr>
        <ns0:spPr>
          <ns1:xfrm>
            <ns1:off x="89062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50" name="Text 48"/>
          <ns0:cNvSpPr/>
          <ns0:nvPr/>
        </ns0:nvSpPr>
        <ns0:spPr>
          <ns1:xfrm>
            <ns1:off x="89611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merch_pay</ns1:t>
            </ns1:r>
            <ns1:endParaRPr lang="en-US" sz="900" dirty="0"/>
          </ns1:p>
        </ns0:txBody>
      </ns0:sp>
      <ns0:sp>
        <ns0:nvSpPr>
          <ns0:cNvPr id="51" name="Text 49"/>
          <ns0:cNvSpPr/>
          <ns0:nvPr/>
        </ns0:nvSpPr>
        <ns0:spPr>
          <ns1:xfrm>
            <ns1:off x="539496" y="3767328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l" indent="0" marL="0">
              <ns1:buNone/>
            </ns1:pPr>
            <ns1:r>
              <ns1:rPr lang="en-US" sz="950" i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Customer payment flow:</ns1:t>
            </ns1:r>
            <ns1:endParaRPr lang="en-US" sz="950" dirty="0"/>
          </ns1:p>
        </ns0:txBody>
      </ns0:sp>
      <ns0:sp>
        <ns0:nvSpPr>
          <ns0:cNvPr id="52" name="Shape 50"/>
          <ns0:cNvSpPr/>
          <ns0:nvPr/>
        </ns0:nvSpPr>
        <ns0:spPr>
          <ns1:xfrm>
            <ns1:off x="53949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53" name="Text 51"/>
          <ns0:cNvSpPr/>
          <ns0:nvPr/>
        </ns0:nvSpPr>
        <ns0:spPr>
          <ns1:xfrm>
            <ns1:off x="59436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1. Submit</ns1:t>
            </ns1:r>
            <ns1:endParaRPr lang="en-US" sz="1000" dirty="0"/>
          </ns1:p>
        </ns0:txBody>
      </ns0:sp>
      <ns0:sp>
        <ns0:nvSpPr>
          <ns0:cNvPr id="54" name="Text 52"/>
          <ns0:cNvSpPr/>
          <ns0:nvPr/>
        </ns0:nvSpPr>
        <ns0:spPr>
          <ns1:xfrm>
            <ns1:off x="59436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Sends payment</ns1:t>
            </ns1:r>
            <ns1:endParaRPr lang="en-US" sz="900" dirty="0"/>
          </ns1:p>
        </ns0:txBody>
      </ns0:sp>
      <ns0:sp>
        <ns0:nvSpPr>
          <ns0:cNvPr id="55" name="Shape 53"/>
          <ns0:cNvSpPr/>
          <ns0:nvPr/>
        </ns0:nvSpPr>
        <ns0:spPr>
          <ns1:xfrm>
            <ns1:off x="227685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56" name="Shape 54"/>
          <ns0:cNvSpPr/>
          <ns0:nvPr/>
        </ns0:nvSpPr>
        <ns0:spPr>
          <ns1:xfrm>
            <ns1:off x="241401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57" name="Text 55"/>
          <ns0:cNvSpPr/>
          <ns0:nvPr/>
        </ns0:nvSpPr>
        <ns0:spPr>
          <ns1:xfrm>
            <ns1:off x="246888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2. Validate</ns1:t>
            </ns1:r>
            <ns1:endParaRPr lang="en-US" sz="1000" dirty="0"/>
          </ns1:p>
        </ns0:txBody>
      </ns0:sp>
      <ns0:sp>
        <ns0:nvSpPr>
          <ns0:cNvPr id="58" name="Text 56"/>
          <ns0:cNvSpPr/>
          <ns0:nvPr/>
        </ns0:nvSpPr>
        <ns0:spPr>
          <ns1:xfrm>
            <ns1:off x="246888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Validation checks</ns1:t>
            </ns1:r>
            <ns1:endParaRPr lang="en-US" sz="900" dirty="0"/>
          </ns1:p>
        </ns0:txBody>
      </ns0:sp>
      <ns0:sp>
        <ns0:nvSpPr>
          <ns0:cNvPr id="59" name="Shape 57"/>
          <ns0:cNvSpPr/>
          <ns0:nvPr/>
        </ns0:nvSpPr>
        <ns0:spPr>
          <ns1:xfrm>
            <ns1:off x="415137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0" name="Shape 58"/>
          <ns0:cNvSpPr/>
          <ns0:nvPr/>
        </ns0:nvSpPr>
        <ns0:spPr>
          <ns1:xfrm>
            <ns1:off x="428853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61" name="Text 59"/>
          <ns0:cNvSpPr/>
          <ns0:nvPr/>
        </ns0:nvSpPr>
        <ns0:spPr>
          <ns1:xfrm>
            <ns1:off x="434340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3. Debit</ns1:t>
            </ns1:r>
            <ns1:endParaRPr lang="en-US" sz="1000" dirty="0"/>
          </ns1:p>
        </ns0:txBody>
      </ns0:sp>
      <ns0:sp>
        <ns0:nvSpPr>
          <ns0:cNvPr id="62" name="Text 60"/>
          <ns0:cNvSpPr/>
          <ns0:nvPr/>
        </ns0:nvSpPr>
        <ns0:spPr>
          <ns1:xfrm>
            <ns1:off x="434340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Ledger minus</ns1:t>
            </ns1:r>
            <ns1:endParaRPr lang="en-US" sz="900" dirty="0"/>
          </ns1:p>
        </ns0:txBody>
      </ns0:sp>
      <ns0:sp>
        <ns0:nvSpPr>
          <ns0:cNvPr id="63" name="Shape 61"/>
          <ns0:cNvSpPr/>
          <ns0:nvPr/>
        </ns0:nvSpPr>
        <ns0:spPr>
          <ns1:xfrm>
            <ns1:off x="602589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4" name="Shape 62"/>
          <ns0:cNvSpPr/>
          <ns0:nvPr/>
        </ns0:nvSpPr>
        <ns0:spPr>
          <ns1:xfrm>
            <ns1:off x="616305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65" name="Text 63"/>
          <ns0:cNvSpPr/>
          <ns0:nvPr/>
        </ns0:nvSpPr>
        <ns0:spPr>
          <ns1:xfrm>
            <ns1:off x="621792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4. Credit</ns1:t>
            </ns1:r>
            <ns1:endParaRPr lang="en-US" sz="1000" dirty="0"/>
          </ns1:p>
        </ns0:txBody>
      </ns0:sp>
      <ns0:sp>
        <ns0:nvSpPr>
          <ns0:cNvPr id="66" name="Text 64"/>
          <ns0:cNvSpPr/>
          <ns0:nvPr/>
        </ns0:nvSpPr>
        <ns0:spPr>
          <ns1:xfrm>
            <ns1:off x="621792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Ledger plus</ns1:t>
            </ns1:r>
            <ns1:endParaRPr lang="en-US" sz="900" dirty="0"/>
          </ns1:p>
        </ns0:txBody>
      </ns0:sp>
      <ns0:sp>
        <ns0:nvSpPr>
          <ns0:cNvPr id="67" name="Shape 65"/>
          <ns0:cNvSpPr/>
          <ns0:nvPr/>
        </ns0:nvSpPr>
        <ns0:spPr>
          <ns1:xfrm>
            <ns1:off x="790041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8" name="Shape 66"/>
          <ns0:cNvSpPr/>
          <ns0:nvPr/>
        </ns0:nvSpPr>
        <ns0:spPr>
          <ns1:xfrm>
            <ns1:off x="803757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69" name="Text 67"/>
          <ns0:cNvSpPr/>
          <ns0:nvPr/>
        </ns0:nvSpPr>
        <ns0:spPr>
          <ns1:xfrm>
            <ns1:off x="809244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5. Log</ns1:t>
            </ns1:r>
            <ns1:endParaRPr lang="en-US" sz="1000" dirty="0"/>
          </ns1:p>
        </ns0:txBody>
      </ns0:sp>
      <ns0:sp>
        <ns0:nvSpPr>
          <ns0:cNvPr id="70" name="Text 68"/>
          <ns0:cNvSpPr/>
          <ns0:nvPr/>
        </ns0:nvSpPr>
        <ns0:spPr>
          <ns1:xfrm>
            <ns1:off x="809244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Audited + idempotent</ns1:t>
            </ns1:r>
            <ns1:endParaRPr lang="en-US" sz="900" dirty="0"/>
          </ns1:p>
        </ns0:txBody>
      </ns0:sp>
      <ns0:sp>
        <ns0:nvSpPr>
          <ns0:cNvPr id="71" name="Shape 69"/>
          <ns0:cNvSpPr/>
          <ns0:nvPr/>
        </ns0:nvSpPr>
        <ns0:spPr>
          <ns1:xfrm>
            <ns1:off x="977493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72" name="Shape 70"/>
          <ns0:cNvSpPr/>
          <ns0:nvPr/>
        </ns0:nvSpPr>
        <ns0:spPr>
          <ns1:xfrm>
            <ns1:off x="991209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73" name="Text 71"/>
          <ns0:cNvSpPr/>
          <ns0:nvPr/>
        </ns0:nvSpPr>
        <ns0:spPr>
          <ns1:xfrm>
            <ns1:off x="996696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6. Notify</ns1:t>
            </ns1:r>
            <ns1:endParaRPr lang="en-US" sz="1000" dirty="0"/>
          </ns1:p>
        </ns0:txBody>
      </ns0:sp>
      <ns0:sp>
        <ns0:nvSpPr>
          <ns0:cNvPr id="74" name="Text 72"/>
          <ns0:cNvSpPr/>
          <ns0:nvPr/>
        </ns0:nvSpPr>
        <ns0:spPr>
          <ns1:xfrm>
            <ns1:off x="996696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Live dashboard</ns1:t>
            </ns1:r>
            <ns1:endParaRPr lang="en-US" sz="900" dirty="0"/>
          </ns1:p>
        </ns0:txBody>
      </ns0:sp>
      <ns0:sp>
        <ns0:nvSpPr>
          <ns0:cNvPr id="75" name="Text 73"/>
          <ns0:cNvSpPr/>
          <ns0:nvPr/>
        </ns0:nvSpPr>
        <ns0:spPr>
          <ns1:xfrm>
            <ns1:off x="539496" y="4965192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i="1" dirty="0">
                <ns1:solidFill>
                  <ns1:srgbClr val="666666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Two balanced debit/credit ledger rows are written atomically; idempotency blocks duplicate charges on retry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Shape 3"/>
          <p:cNvSpPr/>
          <p:nvPr/>
        </p:nvSpPr>
        <p:spPr>
          <a:xfrm>
            <a:off x="749808" y="201168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0F2FA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1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31720" y="164592"/>
            <a:ext cx="9098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Fraud Detection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scoring, mandatory human review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6876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1740" y="86868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1396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6260" y="86868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5916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0780" y="86868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mgr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60436" y="86868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5300" y="86868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94476" y="1179576"/>
            <a:ext cx="9144" cy="11887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9496" y="1298448"/>
            <a:ext cx="11109960" cy="365760"/>
          </a:xfrm>
          <a:prstGeom prst="roundRect">
            <a:avLst>
              <a:gd name="adj" fmla="val 15000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325880"/>
            <a:ext cx="11000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ops console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1527048"/>
            <a:ext cx="11000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queue, case review, model KPIs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94476" y="1664208"/>
            <a:ext cx="9144" cy="11887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9496" y="1783080"/>
            <a:ext cx="11109960" cy="1874520"/>
          </a:xfrm>
          <a:prstGeom prst="roundRect">
            <a:avLst>
              <a:gd name="adj" fmla="val 4878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1837944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fraud (ISO 42001, NIST AI RMF)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" y="2075688"/>
            <a:ext cx="3459480" cy="438912"/>
          </a:xfrm>
          <a:prstGeom prst="roundRect">
            <a:avLst>
              <a:gd name="adj" fmla="val 125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103120"/>
            <a:ext cx="3349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2340864"/>
            <a:ext cx="3349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signals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64736" y="2075688"/>
            <a:ext cx="3459480" cy="438912"/>
          </a:xfrm>
          <a:prstGeom prst="roundRect">
            <a:avLst>
              <a:gd name="adj" fmla="val 125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9600" y="2103120"/>
            <a:ext cx="3349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19600" y="2340864"/>
            <a:ext cx="3349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52816" y="2075688"/>
            <a:ext cx="3459480" cy="438912"/>
          </a:xfrm>
          <a:prstGeom prst="roundRect">
            <a:avLst>
              <a:gd name="adj" fmla="val 125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07680" y="2103120"/>
            <a:ext cx="3349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07680" y="2340864"/>
            <a:ext cx="3349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" y="2587752"/>
            <a:ext cx="3459480" cy="438912"/>
          </a:xfrm>
          <a:prstGeom prst="roundRect">
            <a:avLst>
              <a:gd name="adj" fmla="val 125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2615184"/>
            <a:ext cx="3349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svc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" y="2852928"/>
            <a:ext cx="3349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alert ID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64736" y="2587752"/>
            <a:ext cx="3459480" cy="438912"/>
          </a:xfrm>
          <a:prstGeom prst="roundRect">
            <a:avLst>
              <a:gd name="adj" fmla="val 125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19600" y="2615184"/>
            <a:ext cx="3349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419600" y="2852928"/>
            <a:ext cx="3349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notes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52816" y="2587752"/>
            <a:ext cx="3459480" cy="438912"/>
          </a:xfrm>
          <a:prstGeom prst="roundRect">
            <a:avLst>
              <a:gd name="adj" fmla="val 125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07680" y="2615184"/>
            <a:ext cx="3349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07680" y="2852928"/>
            <a:ext cx="3349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+ metrics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94476" y="3026664"/>
            <a:ext cx="9144" cy="73152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76656" y="3099816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309981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fraud_alerts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19856" y="3099816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09981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63056" y="3099816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09981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model_registry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906256" y="3099816"/>
            <a:ext cx="2606040" cy="292608"/>
          </a:xfrm>
          <a:prstGeom prst="roundRect">
            <a:avLst>
              <a:gd name="adj" fmla="val 18750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961120" y="3099816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9496" y="3767328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review flow: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39496" y="4005072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23824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4360" y="447598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2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76856" y="4439412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414016" y="4005072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0" y="423824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Extract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468880" y="447598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Amount/time/velocity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51376" y="4439412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4288536" y="4005072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43400" y="423824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Score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343400" y="447598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25896" y="4439412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163056" y="4005072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0" y="423824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Flag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217920" y="447598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00416" y="4439412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8037576" y="4005072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92440" y="423824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Review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092440" y="447598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9774936" y="4439412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9912096" y="4005072"/>
            <a:ext cx="1737360" cy="868680"/>
          </a:xfrm>
          <a:prstGeom prst="roundRect">
            <a:avLst>
              <a:gd name="adj" fmla="val 6316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66960" y="423824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Log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966960" y="447598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recorded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39496" y="4965192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blocking — human review is a project control aligned with ISO 42001 / NIST AI RMF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ns0:sld xmlns:ns0="http://schemas.openxmlformats.org/presentationml/2006/main" xmlns:ns1="http://schemas.openxmlformats.org/drawingml/2006/main">
  <ns0:cSld name="Slide 9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82296" cy="6858000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3" name="Shape 1"/>
          <ns0:cNvSpPr/>
          <ns0:nvPr/>
        </ns0:nvSpPr>
        <ns0:spPr>
          <ns1:xfrm>
            <ns1:off x="292608" y="182880"/>
            <ns1:ext cx="310896" cy="310896"/>
          </ns1:xfrm>
          <ns1:prstGeom prst="roundRect">
            <ns1:avLst>
              <ns1:gd name="adj" fmla="val 28000"/>
            </ns1:avLst>
          </ns1:prstGeom>
          <ns1:solidFill>
            <ns1:srgbClr val="1E2761"/>
          </ns1:solidFill>
          <ns1:ln/>
        </ns0:spPr>
      </ns0:sp>
      <ns0:sp>
        <ns0:nvSpPr>
          <ns0:cNvPr id="4" name="Text 2"/>
          <ns0:cNvSpPr/>
          <ns0:nvPr/>
        </ns0:nvSpPr>
        <ns0:spPr>
          <ns1:xfrm>
            <ns1:off x="292608" y="182880"/>
            <ns1:ext cx="310896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28" b="1" dirty="0">
                <ns1:solidFill>
                  <ns1:srgbClr val="FFFFFF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G</ns1:t>
            </ns1:r>
            <ns1:endParaRPr lang="en-US" sz="1428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749808" y="201168"/>
            <ns1:ext cx="1417320" cy="292608"/>
          </ns1:xfrm>
          <ns1:prstGeom prst="roundRect">
            <ns1:avLst>
              <ns1:gd name="adj" fmla="val 18750"/>
            </ns1:avLst>
          </ns1:prstGeom>
          <ns1:solidFill>
            <ns1:srgbClr val="F0F2FA"/>
          </ns1:solidFill>
          <ns1:ln w="9525">
            <ns1:solidFill>
              <ns1:srgbClr val="1E2761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749808" y="201168"/>
            <ns1:ext cx="141732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5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MODULE 4</ns1:t>
            </ns1:r>
            <ns1:endParaRPr lang="en-US" sz="105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2331720" y="164592"/>
            <ns1:ext cx="909828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E2761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Open Banking &amp; CBDC Simulation</ns1:t>
            </ns1:r>
            <ns1:endParaRPr lang="en-US" sz="20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49808" y="548640"/>
            <ns1:ext cx="1143000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55555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Account/payment APIs, CBDC operations, activity monitoring</ns1:t>
            </ns1:r>
            <ns1:endParaRPr lang="en-US" sz="105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243687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249174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3rd-party app</ns1:t>
            </ns1:r>
            <ns1:endParaRPr lang="en-US" sz="95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31139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436626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Bank (sim)</ns1:t>
            </ns1:r>
            <ns1:endParaRPr lang="en-US" sz="95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18591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624078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Ops</ns1:t>
            </ns1:r>
            <ns1:endParaRPr lang="en-US" sz="9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806043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811530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Compliance</ns1:t>
            </ns1:r>
            <ns1:endParaRPr lang="en-US" sz="95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6094476" y="1179576"/>
            <ns1:ext cx="9144" cy="11887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18" name="Shape 16"/>
          <ns0:cNvSpPr/>
          <ns0:nvPr/>
        </ns0:nvSpPr>
        <ns0:spPr>
          <ns1:xfrm>
            <ns1:off x="539496" y="1298448"/>
            <ns1:ext cx="11109960" cy="365760"/>
          </ns1:xfrm>
          <ns1:prstGeom prst="roundRect">
            <ns1:avLst>
              <ns1:gd name="adj" fmla="val 15000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594360" y="1325880"/>
            <ns1:ext cx="110002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5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API operations console</ns1:t>
            </ns1:r>
            <ns1:endParaRPr lang="en-US" sz="105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594360" y="1527048"/>
            <ns1:ext cx="11000232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Activity, health &amp; reports</ns1:t>
            </ns1:r>
            <ns1:endParaRPr lang="en-US" sz="90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6094476" y="1664208"/>
            <ns1:ext cx="9144" cy="11887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22" name="Shape 20"/>
          <ns0:cNvSpPr/>
          <ns0:nvPr/>
        </ns0:nvSpPr>
        <ns0:spPr>
          <ns1:xfrm>
            <ns1:off x="539496" y="1783080"/>
            <ns1:ext cx="11109960" cy="1874520"/>
          </ns1:xfrm>
          <ns1:prstGeom prst="roundRect">
            <ns1:avLst>
              <ns1:gd name="adj" fmla="val 4878"/>
            </ns1:avLst>
          </ns1:prstGeom>
          <ns1:solidFill>
            <ns1:srgbClr val="FAFAFA"/>
          </ns1:solidFill>
          <ns1:ln w="12700">
            <ns1:solidFill>
              <ns1:srgbClr val="CCCCCC"/>
            </ns1:solidFill>
            <ns1:prstDash val="solid"/>
          </ns1:ln>
        </ns0:spPr>
      </ns0:sp>
      <ns0:sp>
        <ns0:nvSpPr>
          <ns0:cNvPr id="23" name="Text 21"/>
          <ns0:cNvSpPr/>
          <ns0:nvPr/>
        </ns0:nvSpPr>
        <ns0:spPr>
          <ns1:xfrm>
            <ns1:off x="539496" y="1837944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FastAPI — open_banking, cbdc (consent scopes, JWT)</ns1:t>
            </ns1:r>
            <ns1:endParaRPr lang="en-US" sz="110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67665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25" name="Text 23"/>
          <ns0:cNvSpPr/>
          <ns0:nvPr/>
        </ns0:nvSpPr>
        <ns0:spPr>
          <ns1:xfrm>
            <ns1:off x="73152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Account API</ns1:t>
            </ns1:r>
            <ns1:endParaRPr lang="en-US" sz="95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73152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Open Banking AIS</ns1:t>
            </ns1:r>
            <ns1:endParaRPr lang="en-US" sz="9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436473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28" name="Text 26"/>
          <ns0:cNvSpPr/>
          <ns0:nvPr/>
        </ns0:nvSpPr>
        <ns0:spPr>
          <ns1:xfrm>
            <ns1:off x="441960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Payment API</ns1:t>
            </ns1:r>
            <ns1:endParaRPr lang="en-US" sz="95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441960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Open Banking PIS</ns1:t>
            </ns1:r>
            <ns1:endParaRPr lang="en-US" sz="9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805281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810768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CBDC API</ns1:t>
            </ns1:r>
            <ns1:endParaRPr lang="en-US" sz="950" dirty="0"/>
          </ns1:p>
        </ns0:txBody>
      </ns0:sp>
      <ns0:sp>
        <ns0:nvSpPr>
          <ns0:cNvPr id="32" name="Text 30"/>
          <ns0:cNvSpPr/>
          <ns0:nvPr/>
        </ns0:nvSpPr>
        <ns0:spPr>
          <ns1:xfrm>
            <ns1:off x="810768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Sim ops</ns1:t>
            </ns1:r>
            <ns1:endParaRPr lang="en-US" sz="900" dirty="0"/>
          </ns1:p>
        </ns0:txBody>
      </ns0:sp>
      <ns0:sp>
        <ns0:nvSpPr>
          <ns0:cNvPr id="33" name="Shape 31"/>
          <ns0:cNvSpPr/>
          <ns0:nvPr/>
        </ns0:nvSpPr>
        <ns0:spPr>
          <ns1:xfrm>
            <ns1:off x="67665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4" name="Text 32"/>
          <ns0:cNvSpPr/>
          <ns0:nvPr/>
        </ns0:nvSpPr>
        <ns0:spPr>
          <ns1:xfrm>
            <ns1:off x="73152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Activity log</ns1:t>
            </ns1:r>
            <ns1:endParaRPr lang="en-US" sz="950" dirty="0"/>
          </ns1:p>
        </ns0:txBody>
      </ns0:sp>
      <ns0:sp>
        <ns0:nvSpPr>
          <ns0:cNvPr id="35" name="Text 33"/>
          <ns0:cNvSpPr/>
          <ns0:nvPr/>
        </ns0:nvSpPr>
        <ns0:spPr>
          <ns1:xfrm>
            <ns1:off x="73152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Per-call record</ns1:t>
            </ns1:r>
            <ns1:endParaRPr lang="en-US" sz="90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436473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7" name="Text 35"/>
          <ns0:cNvSpPr/>
          <ns0:nvPr/>
        </ns0:nvSpPr>
        <ns0:spPr>
          <ns1:xfrm>
            <ns1:off x="441960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Health monitor</ns1:t>
            </ns1:r>
            <ns1:endParaRPr lang="en-US" sz="950" dirty="0"/>
          </ns1:p>
        </ns0:txBody>
      </ns0:sp>
      <ns0:sp>
        <ns0:nvSpPr>
          <ns0:cNvPr id="38" name="Text 36"/>
          <ns0:cNvSpPr/>
          <ns0:nvPr/>
        </ns0:nvSpPr>
        <ns0:spPr>
          <ns1:xfrm>
            <ns1:off x="441960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Uptime/latency</ns1:t>
            </ns1:r>
            <ns1:endParaRPr lang="en-US" sz="900" dirty="0"/>
          </ns1:p>
        </ns0:txBody>
      </ns0:sp>
      <ns0:sp>
        <ns0:nvSpPr>
          <ns0:cNvPr id="39" name="Shape 37"/>
          <ns0:cNvSpPr/>
          <ns0:nvPr/>
        </ns0:nvSpPr>
        <ns0:spPr>
          <ns1:xfrm>
            <ns1:off x="805281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40" name="Text 38"/>
          <ns0:cNvSpPr/>
          <ns0:nvPr/>
        </ns0:nvSpPr>
        <ns0:spPr>
          <ns1:xfrm>
            <ns1:off x="810768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Reporting svc</ns1:t>
            </ns1:r>
            <ns1:endParaRPr lang="en-US" sz="950" dirty="0"/>
          </ns1:p>
        </ns0:txBody>
      </ns0:sp>
      <ns0:sp>
        <ns0:nvSpPr>
          <ns0:cNvPr id="41" name="Text 39"/>
          <ns0:cNvSpPr/>
          <ns0:nvPr/>
        </ns0:nvSpPr>
        <ns0:spPr>
          <ns1:xfrm>
            <ns1:off x="810768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Ops reports</ns1:t>
            </ns1:r>
            <ns1:endParaRPr lang="en-US" sz="900" dirty="0"/>
          </ns1:p>
        </ns0:txBody>
      </ns0:sp>
      <ns0:sp>
        <ns0:nvSpPr>
          <ns0:cNvPr id="42" name="Shape 40"/>
          <ns0:cNvSpPr/>
          <ns0:nvPr/>
        </ns0:nvSpPr>
        <ns0:spPr>
          <ns1:xfrm>
            <ns1:off x="6094476" y="3026664"/>
            <ns1:ext cx="9144" cy="7315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43" name="Shape 41"/>
          <ns0:cNvSpPr/>
          <ns0:nvPr/>
        </ns0:nvSpPr>
        <ns0:spPr>
          <ns1:xfrm>
            <ns1:off x="6766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4" name="Text 42"/>
          <ns0:cNvSpPr/>
          <ns0:nvPr/>
        </ns0:nvSpPr>
        <ns0:spPr>
          <ns1:xfrm>
            <ns1:off x="7315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api_calls</ns1:t>
            </ns1:r>
            <ns1:endParaRPr lang="en-US" sz="900" dirty="0"/>
          </ns1:p>
        </ns0:txBody>
      </ns0:sp>
      <ns0:sp>
        <ns0:nvSpPr>
          <ns0:cNvPr id="45" name="Shape 43"/>
          <ns0:cNvSpPr/>
          <ns0:nvPr/>
        </ns0:nvSpPr>
        <ns0:spPr>
          <ns1:xfrm>
            <ns1:off x="34198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6" name="Text 44"/>
          <ns0:cNvSpPr/>
          <ns0:nvPr/>
        </ns0:nvSpPr>
        <ns0:spPr>
          <ns1:xfrm>
            <ns1:off x="34747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cbdc_wallets</ns1:t>
            </ns1:r>
            <ns1:endParaRPr lang="en-US" sz="900" dirty="0"/>
          </ns1:p>
        </ns0:txBody>
      </ns0:sp>
      <ns0:sp>
        <ns0:nvSpPr>
          <ns0:cNvPr id="47" name="Shape 45"/>
          <ns0:cNvSpPr/>
          <ns0:nvPr/>
        </ns0:nvSpPr>
        <ns0:spPr>
          <ns1:xfrm>
            <ns1:off x="61630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8" name="Text 46"/>
          <ns0:cNvSpPr/>
          <ns0:nvPr/>
        </ns0:nvSpPr>
        <ns0:spPr>
          <ns1:xfrm>
            <ns1:off x="62179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cbdc_ops</ns1:t>
            </ns1:r>
            <ns1:endParaRPr lang="en-US" sz="900" dirty="0"/>
          </ns1:p>
        </ns0:txBody>
      </ns0:sp>
      <ns0:sp>
        <ns0:nvSpPr>
          <ns0:cNvPr id="49" name="Shape 47"/>
          <ns0:cNvSpPr/>
          <ns0:nvPr/>
        </ns0:nvSpPr>
        <ns0:spPr>
          <ns1:xfrm>
            <ns1:off x="89062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50" name="Text 48"/>
          <ns0:cNvSpPr/>
          <ns0:nvPr/>
        </ns0:nvSpPr>
        <ns0:spPr>
          <ns1:xfrm>
            <ns1:off x="89611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consents</ns1:t>
            </ns1:r>
            <ns1:endParaRPr lang="en-US" sz="900" dirty="0"/>
          </ns1:p>
        </ns0:txBody>
      </ns0:sp>
      <ns0:sp>
        <ns0:nvSpPr>
          <ns0:cNvPr id="51" name="Text 49"/>
          <ns0:cNvSpPr/>
          <ns0:nvPr/>
        </ns0:nvSpPr>
        <ns0:spPr>
          <ns1:xfrm>
            <ns1:off x="539496" y="3767328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l" indent="0" marL="0">
              <ns1:buNone/>
            </ns1:pPr>
            <ns1:r>
              <ns1:rPr lang="en-US" sz="950" i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Open Banking / CBDC flow:</ns1:t>
            </ns1:r>
            <ns1:endParaRPr lang="en-US" sz="950" dirty="0"/>
          </ns1:p>
        </ns0:txBody>
      </ns0:sp>
      <ns0:sp>
        <ns0:nvSpPr>
          <ns0:cNvPr id="52" name="Shape 50"/>
          <ns0:cNvSpPr/>
          <ns0:nvPr/>
        </ns0:nvSpPr>
        <ns0:spPr>
          <ns1:xfrm>
            <ns1:off x="53949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53" name="Text 51"/>
          <ns0:cNvSpPr/>
          <ns0:nvPr/>
        </ns0:nvSpPr>
        <ns0:spPr>
          <ns1:xfrm>
            <ns1:off x="59436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1. Consent</ns1:t>
            </ns1:r>
            <ns1:endParaRPr lang="en-US" sz="1000" dirty="0"/>
          </ns1:p>
        </ns0:txBody>
      </ns0:sp>
      <ns0:sp>
        <ns0:nvSpPr>
          <ns0:cNvPr id="54" name="Text 52"/>
          <ns0:cNvSpPr/>
          <ns0:nvPr/>
        </ns0:nvSpPr>
        <ns0:spPr>
          <ns1:xfrm>
            <ns1:off x="59436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Scope request</ns1:t>
            </ns1:r>
            <ns1:endParaRPr lang="en-US" sz="900" dirty="0"/>
          </ns1:p>
        </ns0:txBody>
      </ns0:sp>
      <ns0:sp>
        <ns0:nvSpPr>
          <ns0:cNvPr id="55" name="Shape 53"/>
          <ns0:cNvSpPr/>
          <ns0:nvPr/>
        </ns0:nvSpPr>
        <ns0:spPr>
          <ns1:xfrm>
            <ns1:off x="227685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56" name="Shape 54"/>
          <ns0:cNvSpPr/>
          <ns0:nvPr/>
        </ns0:nvSpPr>
        <ns0:spPr>
          <ns1:xfrm>
            <ns1:off x="241401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57" name="Text 55"/>
          <ns0:cNvSpPr/>
          <ns0:nvPr/>
        </ns0:nvSpPr>
        <ns0:spPr>
          <ns1:xfrm>
            <ns1:off x="246888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2. Authorize</ns1:t>
            </ns1:r>
            <ns1:endParaRPr lang="en-US" sz="1000" dirty="0"/>
          </ns1:p>
        </ns0:txBody>
      </ns0:sp>
      <ns0:sp>
        <ns0:nvSpPr>
          <ns0:cNvPr id="58" name="Text 56"/>
          <ns0:cNvSpPr/>
          <ns0:nvPr/>
        </ns0:nvSpPr>
        <ns0:spPr>
          <ns1:xfrm>
            <ns1:off x="246888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JWT + consent</ns1:t>
            </ns1:r>
            <ns1:endParaRPr lang="en-US" sz="900" dirty="0"/>
          </ns1:p>
        </ns0:txBody>
      </ns0:sp>
      <ns0:sp>
        <ns0:nvSpPr>
          <ns0:cNvPr id="59" name="Shape 57"/>
          <ns0:cNvSpPr/>
          <ns0:nvPr/>
        </ns0:nvSpPr>
        <ns0:spPr>
          <ns1:xfrm>
            <ns1:off x="415137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0" name="Shape 58"/>
          <ns0:cNvSpPr/>
          <ns0:nvPr/>
        </ns0:nvSpPr>
        <ns0:spPr>
          <ns1:xfrm>
            <ns1:off x="428853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61" name="Text 59"/>
          <ns0:cNvSpPr/>
          <ns0:nvPr/>
        </ns0:nvSpPr>
        <ns0:spPr>
          <ns1:xfrm>
            <ns1:off x="434340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3. Call</ns1:t>
            </ns1:r>
            <ns1:endParaRPr lang="en-US" sz="1000" dirty="0"/>
          </ns1:p>
        </ns0:txBody>
      </ns0:sp>
      <ns0:sp>
        <ns0:nvSpPr>
          <ns0:cNvPr id="62" name="Text 60"/>
          <ns0:cNvSpPr/>
          <ns0:nvPr/>
        </ns0:nvSpPr>
        <ns0:spPr>
          <ns1:xfrm>
            <ns1:off x="434340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AIS / PIS / CBDC</ns1:t>
            </ns1:r>
            <ns1:endParaRPr lang="en-US" sz="900" dirty="0"/>
          </ns1:p>
        </ns0:txBody>
      </ns0:sp>
      <ns0:sp>
        <ns0:nvSpPr>
          <ns0:cNvPr id="63" name="Shape 61"/>
          <ns0:cNvSpPr/>
          <ns0:nvPr/>
        </ns0:nvSpPr>
        <ns0:spPr>
          <ns1:xfrm>
            <ns1:off x="602589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4" name="Shape 62"/>
          <ns0:cNvSpPr/>
          <ns0:nvPr/>
        </ns0:nvSpPr>
        <ns0:spPr>
          <ns1:xfrm>
            <ns1:off x="616305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65" name="Text 63"/>
          <ns0:cNvSpPr/>
          <ns0:nvPr/>
        </ns0:nvSpPr>
        <ns0:spPr>
          <ns1:xfrm>
            <ns1:off x="621792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4. Log</ns1:t>
            </ns1:r>
            <ns1:endParaRPr lang="en-US" sz="1000" dirty="0"/>
          </ns1:p>
        </ns0:txBody>
      </ns0:sp>
      <ns0:sp>
        <ns0:nvSpPr>
          <ns0:cNvPr id="66" name="Text 64"/>
          <ns0:cNvSpPr/>
          <ns0:nvPr/>
        </ns0:nvSpPr>
        <ns0:spPr>
          <ns1:xfrm>
            <ns1:off x="621792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Activity record</ns1:t>
            </ns1:r>
            <ns1:endParaRPr lang="en-US" sz="900" dirty="0"/>
          </ns1:p>
        </ns0:txBody>
      </ns0:sp>
      <ns0:sp>
        <ns0:nvSpPr>
          <ns0:cNvPr id="67" name="Shape 65"/>
          <ns0:cNvSpPr/>
          <ns0:nvPr/>
        </ns0:nvSpPr>
        <ns0:spPr>
          <ns1:xfrm>
            <ns1:off x="790041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8" name="Shape 66"/>
          <ns0:cNvSpPr/>
          <ns0:nvPr/>
        </ns0:nvSpPr>
        <ns0:spPr>
          <ns1:xfrm>
            <ns1:off x="803757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69" name="Text 67"/>
          <ns0:cNvSpPr/>
          <ns0:nvPr/>
        </ns0:nvSpPr>
        <ns0:spPr>
          <ns1:xfrm>
            <ns1:off x="809244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5. Health</ns1:t>
            </ns1:r>
            <ns1:endParaRPr lang="en-US" sz="1000" dirty="0"/>
          </ns1:p>
        </ns0:txBody>
      </ns0:sp>
      <ns0:sp>
        <ns0:nvSpPr>
          <ns0:cNvPr id="70" name="Text 68"/>
          <ns0:cNvSpPr/>
          <ns0:nvPr/>
        </ns0:nvSpPr>
        <ns0:spPr>
          <ns1:xfrm>
            <ns1:off x="809244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Uptime check</ns1:t>
            </ns1:r>
            <ns1:endParaRPr lang="en-US" sz="900" dirty="0"/>
          </ns1:p>
        </ns0:txBody>
      </ns0:sp>
      <ns0:sp>
        <ns0:nvSpPr>
          <ns0:cNvPr id="71" name="Shape 69"/>
          <ns0:cNvSpPr/>
          <ns0:nvPr/>
        </ns0:nvSpPr>
        <ns0:spPr>
          <ns1:xfrm>
            <ns1:off x="977493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72" name="Shape 70"/>
          <ns0:cNvSpPr/>
          <ns0:nvPr/>
        </ns0:nvSpPr>
        <ns0:spPr>
          <ns1:xfrm>
            <ns1:off x="991209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73" name="Text 71"/>
          <ns0:cNvSpPr/>
          <ns0:nvPr/>
        </ns0:nvSpPr>
        <ns0:spPr>
          <ns1:xfrm>
            <ns1:off x="996696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6. Expiry</ns1:t>
            </ns1:r>
            <ns1:endParaRPr lang="en-US" sz="1000" dirty="0"/>
          </ns1:p>
        </ns0:txBody>
      </ns0:sp>
      <ns0:sp>
        <ns0:nvSpPr>
          <ns0:cNvPr id="74" name="Text 72"/>
          <ns0:cNvSpPr/>
          <ns0:nvPr/>
        </ns0:nvSpPr>
        <ns0:spPr>
          <ns1:xfrm>
            <ns1:off x="996696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Consent expires</ns1:t>
            </ns1:r>
            <ns1:endParaRPr lang="en-US" sz="900" dirty="0"/>
          </ns1:p>
        </ns0:txBody>
      </ns0:sp>
      <ns0:sp>
        <ns0:nvSpPr>
          <ns0:cNvPr id="75" name="Text 73"/>
          <ns0:cNvSpPr/>
          <ns0:nvPr/>
        </ns0:nvSpPr>
        <ns0:spPr>
          <ns1:xfrm>
            <ns1:off x="539496" y="4965192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i="1" dirty="0">
                <ns1:solidFill>
                  <ns1:srgbClr val="666666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CBDC uses separate wallet and operation records from commercial wallets — no real central-bank connection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>
  <ns0:cSld name="Slide 10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82296" cy="6858000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3" name="Shape 1"/>
          <ns0:cNvSpPr/>
          <ns0:nvPr/>
        </ns0:nvSpPr>
        <ns0:spPr>
          <ns1:xfrm>
            <ns1:off x="292608" y="182880"/>
            <ns1:ext cx="310896" cy="310896"/>
          </ns1:xfrm>
          <ns1:prstGeom prst="roundRect">
            <ns1:avLst>
              <ns1:gd name="adj" fmla="val 28000"/>
            </ns1:avLst>
          </ns1:prstGeom>
          <ns1:solidFill>
            <ns1:srgbClr val="1E2761"/>
          </ns1:solidFill>
          <ns1:ln/>
        </ns0:spPr>
      </ns0:sp>
      <ns0:sp>
        <ns0:nvSpPr>
          <ns0:cNvPr id="4" name="Text 2"/>
          <ns0:cNvSpPr/>
          <ns0:nvPr/>
        </ns0:nvSpPr>
        <ns0:spPr>
          <ns1:xfrm>
            <ns1:off x="292608" y="182880"/>
            <ns1:ext cx="310896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28" b="1" dirty="0">
                <ns1:solidFill>
                  <ns1:srgbClr val="FFFFFF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G</ns1:t>
            </ns1:r>
            <ns1:endParaRPr lang="en-US" sz="1428" dirty="0"/>
          </ns1:p>
        </ns0:txBody>
      </ns0:sp>
      <ns0:sp>
        <ns0:nvSpPr>
          <ns0:cNvPr id="5" name="Shape 3"/>
          <ns0:cNvSpPr/>
          <ns0:nvPr/>
        </ns0:nvSpPr>
        <ns0:spPr>
          <ns1:xfrm>
            <ns1:off x="749808" y="201168"/>
            <ns1:ext cx="1417320" cy="292608"/>
          </ns1:xfrm>
          <ns1:prstGeom prst="roundRect">
            <ns1:avLst>
              <ns1:gd name="adj" fmla="val 18750"/>
            </ns1:avLst>
          </ns1:prstGeom>
          <ns1:solidFill>
            <ns1:srgbClr val="F0F2FA"/>
          </ns1:solidFill>
          <ns1:ln w="9525">
            <ns1:solidFill>
              <ns1:srgbClr val="1E2761"/>
            </ns1:solidFill>
            <ns1:prstDash val="solid"/>
          </ns1:ln>
        </ns0:spPr>
      </ns0:sp>
      <ns0:sp>
        <ns0:nvSpPr>
          <ns0:cNvPr id="6" name="Text 4"/>
          <ns0:cNvSpPr/>
          <ns0:nvPr/>
        </ns0:nvSpPr>
        <ns0:spPr>
          <ns1:xfrm>
            <ns1:off x="749808" y="201168"/>
            <ns1:ext cx="1417320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050" b="1" dirty="0">
                <ns1:solidFill>
                  <ns1:srgbClr val="1E2761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MODULE 5</ns1:t>
            </ns1:r>
            <ns1:endParaRPr lang="en-US" sz="1050" dirty="0"/>
          </ns1:p>
        </ns0:txBody>
      </ns0:sp>
      <ns0:sp>
        <ns0:nvSpPr>
          <ns0:cNvPr id="7" name="Text 5"/>
          <ns0:cNvSpPr/>
          <ns0:nvPr/>
        </ns0:nvSpPr>
        <ns0:spPr>
          <ns1:xfrm>
            <ns1:off x="2331720" y="164592"/>
            <ns1:ext cx="9098280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E2761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Executive Financial Operations Dashboard</ns1:t>
            </ns1:r>
            <ns1:endParaRPr lang="en-US" sz="2000" dirty="0"/>
          </ns1:p>
        </ns0:txBody>
      </ns0:sp>
      <ns0:sp>
        <ns0:nvSpPr>
          <ns0:cNvPr id="8" name="Text 6"/>
          <ns0:cNvSpPr/>
          <ns0:nvPr/>
        </ns0:nvSpPr>
        <ns0:spPr>
          <ns1:xfrm>
            <ns1:off x="749808" y="548640"/>
            <ns1:ext cx="1143000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55555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Read-only aggregation of Modules 1-4 into leadership KPIs</ns1:t>
            </ns1:r>
            <ns1:endParaRPr lang="en-US" sz="1050" dirty="0"/>
          </ns1:p>
        </ns0:txBody>
      </ns0:sp>
      <ns0:sp>
        <ns0:nvSpPr>
          <ns0:cNvPr id="9" name="Shape 7"/>
          <ns0:cNvSpPr/>
          <ns0:nvPr/>
        </ns0:nvSpPr>
        <ns0:spPr>
          <ns1:xfrm>
            <ns1:off x="243687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0" name="Text 8"/>
          <ns0:cNvSpPr/>
          <ns0:nvPr/>
        </ns0:nvSpPr>
        <ns0:spPr>
          <ns1:xfrm>
            <ns1:off x="249174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CEO/Exec</ns1:t>
            </ns1:r>
            <ns1:endParaRPr lang="en-US" sz="95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431139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2" name="Text 10"/>
          <ns0:cNvSpPr/>
          <ns0:nvPr/>
        </ns0:nvSpPr>
        <ns0:spPr>
          <ns1:xfrm>
            <ns1:off x="436626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Board/Auditor</ns1:t>
            </ns1:r>
            <ns1:endParaRPr lang="en-US" sz="950" dirty="0"/>
          </ns1:p>
        </ns0:txBody>
      </ns0:sp>
      <ns0:sp>
        <ns0:nvSpPr>
          <ns0:cNvPr id="13" name="Shape 11"/>
          <ns0:cNvSpPr/>
          <ns0:nvPr/>
        </ns0:nvSpPr>
        <ns0:spPr>
          <ns1:xfrm>
            <ns1:off x="618591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4" name="Text 12"/>
          <ns0:cNvSpPr/>
          <ns0:nvPr/>
        </ns0:nvSpPr>
        <ns0:spPr>
          <ns1:xfrm>
            <ns1:off x="624078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Ops director</ns1:t>
            </ns1:r>
            <ns1:endParaRPr lang="en-US" sz="95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8060436" y="868680"/>
            <ns1:ext cx="1691640" cy="310896"/>
          </ns1:xfrm>
          <ns1:prstGeom prst="roundRect">
            <ns1:avLst>
              <ns1:gd name="adj" fmla="val 17647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16" name="Text 14"/>
          <ns0:cNvSpPr/>
          <ns0:nvPr/>
        </ns0:nvSpPr>
        <ns0:spPr>
          <ns1:xfrm>
            <ns1:off x="8115300" y="868680"/>
            <ns1:ext cx="1581912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Compliance</ns1:t>
            </ns1:r>
            <ns1:endParaRPr lang="en-US" sz="950" dirty="0"/>
          </ns1:p>
        </ns0:txBody>
      </ns0:sp>
      <ns0:sp>
        <ns0:nvSpPr>
          <ns0:cNvPr id="17" name="Shape 15"/>
          <ns0:cNvSpPr/>
          <ns0:nvPr/>
        </ns0:nvSpPr>
        <ns0:spPr>
          <ns1:xfrm>
            <ns1:off x="6094476" y="1179576"/>
            <ns1:ext cx="9144" cy="11887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18" name="Shape 16"/>
          <ns0:cNvSpPr/>
          <ns0:nvPr/>
        </ns0:nvSpPr>
        <ns0:spPr>
          <ns1:xfrm>
            <ns1:off x="539496" y="1298448"/>
            <ns1:ext cx="11109960" cy="365760"/>
          </ns1:xfrm>
          <ns1:prstGeom prst="roundRect">
            <ns1:avLst>
              <ns1:gd name="adj" fmla="val 15000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19" name="Text 17"/>
          <ns0:cNvSpPr/>
          <ns0:nvPr/>
        </ns0:nvSpPr>
        <ns0:spPr>
          <ns1:xfrm>
            <ns1:off x="594360" y="1325880"/>
            <ns1:ext cx="11000232" cy="18288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5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Executive dashboard</ns1:t>
            </ns1:r>
            <ns1:endParaRPr lang="en-US" sz="1050" dirty="0"/>
          </ns1:p>
        </ns0:txBody>
      </ns0:sp>
      <ns0:sp>
        <ns0:nvSpPr>
          <ns0:cNvPr id="20" name="Text 18"/>
          <ns0:cNvSpPr/>
          <ns0:nvPr/>
        </ns0:nvSpPr>
        <ns0:spPr>
          <ns1:xfrm>
            <ns1:off x="594360" y="1527048"/>
            <ns1:ext cx="11000232" cy="1463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KPIs, trends, alerts overview</ns1:t>
            </ns1:r>
            <ns1:endParaRPr lang="en-US" sz="900" dirty="0"/>
          </ns1:p>
        </ns0:txBody>
      </ns0:sp>
      <ns0:sp>
        <ns0:nvSpPr>
          <ns0:cNvPr id="21" name="Shape 19"/>
          <ns0:cNvSpPr/>
          <ns0:nvPr/>
        </ns0:nvSpPr>
        <ns0:spPr>
          <ns1:xfrm>
            <ns1:off x="6094476" y="1664208"/>
            <ns1:ext cx="9144" cy="11887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22" name="Shape 20"/>
          <ns0:cNvSpPr/>
          <ns0:nvPr/>
        </ns0:nvSpPr>
        <ns0:spPr>
          <ns1:xfrm>
            <ns1:off x="539496" y="1783080"/>
            <ns1:ext cx="11109960" cy="1874520"/>
          </ns1:xfrm>
          <ns1:prstGeom prst="roundRect">
            <ns1:avLst>
              <ns1:gd name="adj" fmla="val 4878"/>
            </ns1:avLst>
          </ns1:prstGeom>
          <ns1:solidFill>
            <ns1:srgbClr val="FAFAFA"/>
          </ns1:solidFill>
          <ns1:ln w="12700">
            <ns1:solidFill>
              <ns1:srgbClr val="CCCCCC"/>
            </ns1:solidFill>
            <ns1:prstDash val="solid"/>
          </ns1:ln>
        </ns0:spPr>
      </ns0:sp>
      <ns0:sp>
        <ns0:nvSpPr>
          <ns0:cNvPr id="23" name="Text 21"/>
          <ns0:cNvSpPr/>
          <ns0:nvPr/>
        </ns0:nvSpPr>
        <ns0:spPr>
          <ns1:xfrm>
            <ns1:off x="539496" y="1837944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10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FastAPI — dashboard (read-only, least privilege)</ns1:t>
            </ns1:r>
            <ns1:endParaRPr lang="en-US" sz="1100" dirty="0"/>
          </ns1:p>
        </ns0:txBody>
      </ns0:sp>
      <ns0:sp>
        <ns0:nvSpPr>
          <ns0:cNvPr id="24" name="Shape 22"/>
          <ns0:cNvSpPr/>
          <ns0:nvPr/>
        </ns0:nvSpPr>
        <ns0:spPr>
          <ns1:xfrm>
            <ns1:off x="67665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25" name="Text 23"/>
          <ns0:cNvSpPr/>
          <ns0:nvPr/>
        </ns0:nvSpPr>
        <ns0:spPr>
          <ns1:xfrm>
            <ns1:off x="73152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KPI aggregator</ns1:t>
            </ns1:r>
            <ns1:endParaRPr lang="en-US" sz="95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73152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Read-only rollups</ns1:t>
            </ns1:r>
            <ns1:endParaRPr lang="en-US" sz="90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436473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28" name="Text 26"/>
          <ns0:cNvSpPr/>
          <ns0:nvPr/>
        </ns0:nvSpPr>
        <ns0:spPr>
          <ns1:xfrm>
            <ns1:off x="441960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Trend engine</ns1:t>
            </ns1:r>
            <ns1:endParaRPr lang="en-US" sz="950" dirty="0"/>
          </ns1:p>
        </ns0:txBody>
      </ns0:sp>
      <ns0:sp>
        <ns0:nvSpPr>
          <ns0:cNvPr id="29" name="Text 27"/>
          <ns0:cNvSpPr/>
          <ns0:nvPr/>
        </ns0:nvSpPr>
        <ns0:spPr>
          <ns1:xfrm>
            <ns1:off x="441960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Time series</ns1:t>
            </ns1:r>
            <ns1:endParaRPr lang="en-US" sz="900" dirty="0"/>
          </ns1:p>
        </ns0:txBody>
      </ns0:sp>
      <ns0:sp>
        <ns0:nvSpPr>
          <ns0:cNvPr id="30" name="Shape 28"/>
          <ns0:cNvSpPr/>
          <ns0:nvPr/>
        </ns0:nvSpPr>
        <ns0:spPr>
          <ns1:xfrm>
            <ns1:off x="8052816" y="2075688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1" name="Text 29"/>
          <ns0:cNvSpPr/>
          <ns0:nvPr/>
        </ns0:nvSpPr>
        <ns0:spPr>
          <ns1:xfrm>
            <ns1:off x="8107680" y="2103120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Alert summary</ns1:t>
            </ns1:r>
            <ns1:endParaRPr lang="en-US" sz="950" dirty="0"/>
          </ns1:p>
        </ns0:txBody>
      </ns0:sp>
      <ns0:sp>
        <ns0:nvSpPr>
          <ns0:cNvPr id="32" name="Text 30"/>
          <ns0:cNvSpPr/>
          <ns0:nvPr/>
        </ns0:nvSpPr>
        <ns0:spPr>
          <ns1:xfrm>
            <ns1:off x="8107680" y="2340864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Cross-module</ns1:t>
            </ns1:r>
            <ns1:endParaRPr lang="en-US" sz="900" dirty="0"/>
          </ns1:p>
        </ns0:txBody>
      </ns0:sp>
      <ns0:sp>
        <ns0:nvSpPr>
          <ns0:cNvPr id="33" name="Shape 31"/>
          <ns0:cNvSpPr/>
          <ns0:nvPr/>
        </ns0:nvSpPr>
        <ns0:spPr>
          <ns1:xfrm>
            <ns1:off x="67665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4" name="Text 32"/>
          <ns0:cNvSpPr/>
          <ns0:nvPr/>
        </ns0:nvSpPr>
        <ns0:spPr>
          <ns1:xfrm>
            <ns1:off x="73152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Client export</ns1:t>
            </ns1:r>
            <ns1:endParaRPr lang="en-US" sz="950" dirty="0"/>
          </ns1:p>
        </ns0:txBody>
      </ns0:sp>
      <ns0:sp>
        <ns0:nvSpPr>
          <ns0:cNvPr id="35" name="Text 33"/>
          <ns0:cNvSpPr/>
          <ns0:nvPr/>
        </ns0:nvSpPr>
        <ns0:spPr>
          <ns1:xfrm>
            <ns1:off x="73152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TXT/CSV/JSON</ns1:t>
            </ns1:r>
            <ns1:endParaRPr lang="en-US" sz="900" dirty="0"/>
          </ns1:p>
        </ns0:txBody>
      </ns0:sp>
      <ns0:sp>
        <ns0:nvSpPr>
          <ns0:cNvPr id="36" name="Shape 34"/>
          <ns0:cNvSpPr/>
          <ns0:nvPr/>
        </ns0:nvSpPr>
        <ns0:spPr>
          <ns1:xfrm>
            <ns1:off x="436473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37" name="Text 35"/>
          <ns0:cNvSpPr/>
          <ns0:nvPr/>
        </ns0:nvSpPr>
        <ns0:spPr>
          <ns1:xfrm>
            <ns1:off x="441960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API/CBDC rollup</ns1:t>
            </ns1:r>
            <ns1:endParaRPr lang="en-US" sz="950" dirty="0"/>
          </ns1:p>
        </ns0:txBody>
      </ns0:sp>
      <ns0:sp>
        <ns0:nvSpPr>
          <ns0:cNvPr id="38" name="Text 36"/>
          <ns0:cNvSpPr/>
          <ns0:nvPr/>
        </ns0:nvSpPr>
        <ns0:spPr>
          <ns1:xfrm>
            <ns1:off x="441960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From Module 4</ns1:t>
            </ns1:r>
            <ns1:endParaRPr lang="en-US" sz="900" dirty="0"/>
          </ns1:p>
        </ns0:txBody>
      </ns0:sp>
      <ns0:sp>
        <ns0:nvSpPr>
          <ns0:cNvPr id="39" name="Shape 37"/>
          <ns0:cNvSpPr/>
          <ns0:nvPr/>
        </ns0:nvSpPr>
        <ns0:spPr>
          <ns1:xfrm>
            <ns1:off x="8052816" y="2587752"/>
            <ns1:ext cx="3459480" cy="438912"/>
          </ns1:xfrm>
          <ns1:prstGeom prst="roundRect">
            <ns1:avLst>
              <ns1:gd name="adj" fmla="val 12500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40" name="Text 38"/>
          <ns0:cNvSpPr/>
          <ns0:nvPr/>
        </ns0:nvSpPr>
        <ns0:spPr>
          <ns1:xfrm>
            <ns1:off x="8107680" y="2615184"/>
            <ns1:ext cx="334975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Access control</ns1:t>
            </ns1:r>
            <ns1:endParaRPr lang="en-US" sz="950" dirty="0"/>
          </ns1:p>
        </ns0:txBody>
      </ns0:sp>
      <ns0:sp>
        <ns0:nvSpPr>
          <ns0:cNvPr id="41" name="Text 39"/>
          <ns0:cNvSpPr/>
          <ns0:nvPr/>
        </ns0:nvSpPr>
        <ns0:spPr>
          <ns1:xfrm>
            <ns1:off x="8107680" y="2852928"/>
            <ns1:ext cx="334975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Read-only enforced</ns1:t>
            </ns1:r>
            <ns1:endParaRPr lang="en-US" sz="900" dirty="0"/>
          </ns1:p>
        </ns0:txBody>
      </ns0:sp>
      <ns0:sp>
        <ns0:nvSpPr>
          <ns0:cNvPr id="42" name="Shape 40"/>
          <ns0:cNvSpPr/>
          <ns0:nvPr/>
        </ns0:nvSpPr>
        <ns0:spPr>
          <ns1:xfrm>
            <ns1:off x="6094476" y="3026664"/>
            <ns1:ext cx="9144" cy="73152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43" name="Shape 41"/>
          <ns0:cNvSpPr/>
          <ns0:nvPr/>
        </ns0:nvSpPr>
        <ns0:spPr>
          <ns1:xfrm>
            <ns1:off x="6766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4" name="Text 42"/>
          <ns0:cNvSpPr/>
          <ns0:nvPr/>
        </ns0:nvSpPr>
        <ns0:spPr>
          <ns1:xfrm>
            <ns1:off x="7315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live KPI</ns1:t>
            </ns1:r>
            <ns1:endParaRPr lang="en-US" sz="900" dirty="0"/>
          </ns1:p>
        </ns0:txBody>
      </ns0:sp>
      <ns0:sp>
        <ns0:nvSpPr>
          <ns0:cNvPr id="45" name="Shape 43"/>
          <ns0:cNvSpPr/>
          <ns0:nvPr/>
        </ns0:nvSpPr>
        <ns0:spPr>
          <ns1:xfrm>
            <ns1:off x="34198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6" name="Text 44"/>
          <ns0:cNvSpPr/>
          <ns0:nvPr/>
        </ns0:nvSpPr>
        <ns0:spPr>
          <ns1:xfrm>
            <ns1:off x="34747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trends</ns1:t>
            </ns1:r>
            <ns1:endParaRPr lang="en-US" sz="900" dirty="0"/>
          </ns1:p>
        </ns0:txBody>
      </ns0:sp>
      <ns0:sp>
        <ns0:nvSpPr>
          <ns0:cNvPr id="47" name="Shape 45"/>
          <ns0:cNvSpPr/>
          <ns0:nvPr/>
        </ns0:nvSpPr>
        <ns0:spPr>
          <ns1:xfrm>
            <ns1:off x="61630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48" name="Text 46"/>
          <ns0:cNvSpPr/>
          <ns0:nvPr/>
        </ns0:nvSpPr>
        <ns0:spPr>
          <ns1:xfrm>
            <ns1:off x="62179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alert summary</ns1:t>
            </ns1:r>
            <ns1:endParaRPr lang="en-US" sz="900" dirty="0"/>
          </ns1:p>
        </ns0:txBody>
      </ns0:sp>
      <ns0:sp>
        <ns0:nvSpPr>
          <ns0:cNvPr id="49" name="Shape 47"/>
          <ns0:cNvSpPr/>
          <ns0:nvPr/>
        </ns0:nvSpPr>
        <ns0:spPr>
          <ns1:xfrm>
            <ns1:off x="8906256" y="3099816"/>
            <ns1:ext cx="2606040" cy="292608"/>
          </ns1:xfrm>
          <ns1:prstGeom prst="roundRect">
            <ns1:avLst>
              <ns1:gd name="adj" fmla="val 18750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50" name="Text 48"/>
          <ns0:cNvSpPr/>
          <ns0:nvPr/>
        </ns0:nvSpPr>
        <ns0:spPr>
          <ns1:xfrm>
            <ns1:off x="8961120" y="3099816"/>
            <ns1:ext cx="2496312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report view</ns1:t>
            </ns1:r>
            <ns1:endParaRPr lang="en-US" sz="900" dirty="0"/>
          </ns1:p>
        </ns0:txBody>
      </ns0:sp>
      <ns0:sp>
        <ns0:nvSpPr>
          <ns0:cNvPr id="51" name="Text 49"/>
          <ns0:cNvSpPr/>
          <ns0:nvPr/>
        </ns0:nvSpPr>
        <ns0:spPr>
          <ns1:xfrm>
            <ns1:off x="539496" y="3767328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l" indent="0" marL="0">
              <ns1:buNone/>
            </ns1:pPr>
            <ns1:r>
              <ns1:rPr lang="en-US" sz="950" i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Executive reporting flow:</ns1:t>
            </ns1:r>
            <ns1:endParaRPr lang="en-US" sz="950" dirty="0"/>
          </ns1:p>
        </ns0:txBody>
      </ns0:sp>
      <ns0:sp>
        <ns0:nvSpPr>
          <ns0:cNvPr id="52" name="Shape 50"/>
          <ns0:cNvSpPr/>
          <ns0:nvPr/>
        </ns0:nvSpPr>
        <ns0:spPr>
          <ns1:xfrm>
            <ns1:off x="53949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D3F3EF"/>
          </ns1:solidFill>
          <ns1:ln w="12700">
            <ns1:solidFill>
              <ns1:srgbClr val="3FA79B"/>
            </ns1:solidFill>
            <ns1:prstDash val="solid"/>
          </ns1:ln>
        </ns0:spPr>
      </ns0:sp>
      <ns0:sp>
        <ns0:nvSpPr>
          <ns0:cNvPr id="53" name="Text 51"/>
          <ns0:cNvSpPr/>
          <ns0:nvPr/>
        </ns0:nvSpPr>
        <ns0:spPr>
          <ns1:xfrm>
            <ns1:off x="59436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1F5F5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1. Pull data</ns1:t>
            </ns1:r>
            <ns1:endParaRPr lang="en-US" sz="1000" dirty="0"/>
          </ns1:p>
        </ns0:txBody>
      </ns0:sp>
      <ns0:sp>
        <ns0:nvSpPr>
          <ns0:cNvPr id="54" name="Text 52"/>
          <ns0:cNvSpPr/>
          <ns0:nvPr/>
        </ns0:nvSpPr>
        <ns0:spPr>
          <ns1:xfrm>
            <ns1:off x="59436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F5F58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Live query</ns1:t>
            </ns1:r>
            <ns1:endParaRPr lang="en-US" sz="900" dirty="0"/>
          </ns1:p>
        </ns0:txBody>
      </ns0:sp>
      <ns0:sp>
        <ns0:nvSpPr>
          <ns0:cNvPr id="55" name="Shape 53"/>
          <ns0:cNvSpPr/>
          <ns0:nvPr/>
        </ns0:nvSpPr>
        <ns0:spPr>
          <ns1:xfrm>
            <ns1:off x="227685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56" name="Shape 54"/>
          <ns0:cNvSpPr/>
          <ns0:nvPr/>
        </ns0:nvSpPr>
        <ns0:spPr>
          <ns1:xfrm>
            <ns1:off x="241401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57" name="Text 55"/>
          <ns0:cNvSpPr/>
          <ns0:nvPr/>
        </ns0:nvSpPr>
        <ns0:spPr>
          <ns1:xfrm>
            <ns1:off x="246888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2. Aggregate</ns1:t>
            </ns1:r>
            <ns1:endParaRPr lang="en-US" sz="1000" dirty="0"/>
          </ns1:p>
        </ns0:txBody>
      </ns0:sp>
      <ns0:sp>
        <ns0:nvSpPr>
          <ns0:cNvPr id="58" name="Text 56"/>
          <ns0:cNvSpPr/>
          <ns0:nvPr/>
        </ns0:nvSpPr>
        <ns0:spPr>
          <ns1:xfrm>
            <ns1:off x="246888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Roll up KPIs</ns1:t>
            </ns1:r>
            <ns1:endParaRPr lang="en-US" sz="900" dirty="0"/>
          </ns1:p>
        </ns0:txBody>
      </ns0:sp>
      <ns0:sp>
        <ns0:nvSpPr>
          <ns0:cNvPr id="59" name="Shape 57"/>
          <ns0:cNvSpPr/>
          <ns0:nvPr/>
        </ns0:nvSpPr>
        <ns0:spPr>
          <ns1:xfrm>
            <ns1:off x="415137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0" name="Shape 58"/>
          <ns0:cNvSpPr/>
          <ns0:nvPr/>
        </ns0:nvSpPr>
        <ns0:spPr>
          <ns1:xfrm>
            <ns1:off x="428853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61" name="Text 59"/>
          <ns0:cNvSpPr/>
          <ns0:nvPr/>
        </ns0:nvSpPr>
        <ns0:spPr>
          <ns1:xfrm>
            <ns1:off x="434340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3. Trends</ns1:t>
            </ns1:r>
            <ns1:endParaRPr lang="en-US" sz="1000" dirty="0"/>
          </ns1:p>
        </ns0:txBody>
      </ns0:sp>
      <ns0:sp>
        <ns0:nvSpPr>
          <ns0:cNvPr id="62" name="Text 60"/>
          <ns0:cNvSpPr/>
          <ns0:nvPr/>
        </ns0:nvSpPr>
        <ns0:spPr>
          <ns1:xfrm>
            <ns1:off x="434340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Time series</ns1:t>
            </ns1:r>
            <ns1:endParaRPr lang="en-US" sz="900" dirty="0"/>
          </ns1:p>
        </ns0:txBody>
      </ns0:sp>
      <ns0:sp>
        <ns0:nvSpPr>
          <ns0:cNvPr id="63" name="Shape 61"/>
          <ns0:cNvSpPr/>
          <ns0:nvPr/>
        </ns0:nvSpPr>
        <ns0:spPr>
          <ns1:xfrm>
            <ns1:off x="602589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4" name="Shape 62"/>
          <ns0:cNvSpPr/>
          <ns0:nvPr/>
        </ns0:nvSpPr>
        <ns0:spPr>
          <ns1:xfrm>
            <ns1:off x="616305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E8DFF5"/>
          </ns1:solidFill>
          <ns1:ln w="12700">
            <ns1:solidFill>
              <ns1:srgbClr val="8E6FC4"/>
            </ns1:solidFill>
            <ns1:prstDash val="solid"/>
          </ns1:ln>
        </ns0:spPr>
      </ns0:sp>
      <ns0:sp>
        <ns0:nvSpPr>
          <ns0:cNvPr id="65" name="Text 63"/>
          <ns0:cNvSpPr/>
          <ns0:nvPr/>
        </ns0:nvSpPr>
        <ns0:spPr>
          <ns1:xfrm>
            <ns1:off x="621792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4. Flag</ns1:t>
            </ns1:r>
            <ns1:endParaRPr lang="en-US" sz="1000" dirty="0"/>
          </ns1:p>
        </ns0:txBody>
      </ns0:sp>
      <ns0:sp>
        <ns0:nvSpPr>
          <ns0:cNvPr id="66" name="Text 64"/>
          <ns0:cNvSpPr/>
          <ns0:nvPr/>
        </ns0:nvSpPr>
        <ns0:spPr>
          <ns1:xfrm>
            <ns1:off x="621792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Cross-module</ns1:t>
            </ns1:r>
            <ns1:endParaRPr lang="en-US" sz="900" dirty="0"/>
          </ns1:p>
        </ns0:txBody>
      </ns0:sp>
      <ns0:sp>
        <ns0:nvSpPr>
          <ns0:cNvPr id="67" name="Shape 65"/>
          <ns0:cNvSpPr/>
          <ns0:nvPr/>
        </ns0:nvSpPr>
        <ns0:spPr>
          <ns1:xfrm>
            <ns1:off x="790041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8" name="Shape 66"/>
          <ns0:cNvSpPr/>
          <ns0:nvPr/>
        </ns0:nvSpPr>
        <ns0:spPr>
          <ns1:xfrm>
            <ns1:off x="803757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FBDCD5"/>
          </ns1:solidFill>
          <ns1:ln w="12700">
            <ns1:solidFill>
              <ns1:srgbClr val="E07856"/>
            </ns1:solidFill>
            <ns1:prstDash val="solid"/>
          </ns1:ln>
        </ns0:spPr>
      </ns0:sp>
      <ns0:sp>
        <ns0:nvSpPr>
          <ns0:cNvPr id="69" name="Text 67"/>
          <ns0:cNvSpPr/>
          <ns0:nvPr/>
        </ns0:nvSpPr>
        <ns0:spPr>
          <ns1:xfrm>
            <ns1:off x="809244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5. Report</ns1:t>
            </ns1:r>
            <ns1:endParaRPr lang="en-US" sz="1000" dirty="0"/>
          </ns1:p>
        </ns0:txBody>
      </ns0:sp>
      <ns0:sp>
        <ns0:nvSpPr>
          <ns0:cNvPr id="70" name="Text 68"/>
          <ns0:cNvSpPr/>
          <ns0:nvPr/>
        </ns0:nvSpPr>
        <ns0:spPr>
          <ns1:xfrm>
            <ns1:off x="809244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8A3A1E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Text export</ns1:t>
            </ns1:r>
            <ns1:endParaRPr lang="en-US" sz="900" dirty="0"/>
          </ns1:p>
        </ns0:txBody>
      </ns0:sp>
      <ns0:sp>
        <ns0:nvSpPr>
          <ns0:cNvPr id="71" name="Shape 69"/>
          <ns0:cNvSpPr/>
          <ns0:nvPr/>
        </ns0:nvSpPr>
        <ns0:spPr>
          <ns1:xfrm>
            <ns1:off x="9774936" y="4439412"/>
            <ns1:ext cx="13716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72" name="Shape 70"/>
          <ns0:cNvSpPr/>
          <ns0:nvPr/>
        </ns0:nvSpPr>
        <ns0:spPr>
          <ns1:xfrm>
            <ns1:off x="9912096" y="4005072"/>
            <ns1:ext cx="1737360" cy="868680"/>
          </ns1:xfrm>
          <ns1:prstGeom prst="roundRect">
            <ns1:avLst>
              <ns1:gd name="adj" fmla="val 6316"/>
            </ns1:avLst>
          </ns1:prstGeom>
          <ns1:solidFill>
            <ns1:srgbClr val="D6E9FF"/>
          </ns1:solidFill>
          <ns1:ln w="12700">
            <ns1:solidFill>
              <ns1:srgbClr val="4A90D9"/>
            </ns1:solidFill>
            <ns1:prstDash val="solid"/>
          </ns1:ln>
        </ns0:spPr>
      </ns0:sp>
      <ns0:sp>
        <ns0:nvSpPr>
          <ns0:cNvPr id="73" name="Text 71"/>
          <ns0:cNvSpPr/>
          <ns0:nvPr/>
        </ns0:nvSpPr>
        <ns0:spPr>
          <ns1:xfrm>
            <ns1:off x="9966960" y="4238244"/>
            <ns1:ext cx="1627632" cy="21945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b"/>
          <ns1:lstStyle/>
          <ns1:p>
            <ns1:pPr algn="ctr" indent="0" marL="0">
              <ns1:buNone/>
            </ns1:pPr>
            <ns1:r>
              <ns1:rPr lang="en-US" sz="1000" b="1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6. Present</ns1:t>
            </ns1:r>
            <ns1:endParaRPr lang="en-US" sz="1000" dirty="0"/>
          </ns1:p>
        </ns0:txBody>
      </ns0:sp>
      <ns0:sp>
        <ns0:nvSpPr>
          <ns0:cNvPr id="74" name="Text 72"/>
          <ns0:cNvSpPr/>
          <ns0:nvPr/>
        </ns0:nvSpPr>
        <ns0:spPr>
          <ns1:xfrm>
            <ns1:off x="9966960" y="4475988"/>
            <ns1:ext cx="1627632" cy="164592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algn="ctr" indent="0" marL="0">
              <ns1:buNone/>
            </ns1:pPr>
            <ns1:r>
              <ns1:rPr lang="en-US" sz="900" dirty="0">
                <ns1:solidFill>
                  <ns1:srgbClr val="1B4F72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Exec view</ns1:t>
            </ns1:r>
            <ns1:endParaRPr lang="en-US" sz="900" dirty="0"/>
          </ns1:p>
        </ns0:txBody>
      </ns0:sp>
      <ns0:sp>
        <ns0:nvSpPr>
          <ns0:cNvPr id="75" name="Text 73"/>
          <ns0:cNvSpPr/>
          <ns0:nvPr/>
        </ns0:nvSpPr>
        <ns0:spPr>
          <ns1:xfrm>
            <ns1:off x="539496" y="4965192"/>
            <ns1:ext cx="1110996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00" i="1" dirty="0">
                <ns1:solidFill>
                  <ns1:srgbClr val="666666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No write path back into any operational module — this is the least-privilege principle built into the architecture</ns1:t>
            </ns1:r>
            <ns1:endParaRPr lang="en-US" sz="900" dirty="0"/>
          </ns1:p>
        </ns0:txBody>
      </ns0:sp>
    </ns0:spTree>
  </ns0:cSld>
  <ns0:clrMapOvr>
    <ns1:masterClrMapping/>
  </ns0:clrMapOvr>
</ns0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Network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 — 6 containers on one Docker network (globalpay-net)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37760" y="86868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92624" y="86868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(examiner)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1252728"/>
            <a:ext cx="9144" cy="13716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37760" y="1389888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92624" y="1417320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(frontend:80)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92624" y="165506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3000 -&gt; 80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792224"/>
            <a:ext cx="9144" cy="13716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37760" y="1929384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956816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(backend:8000)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92624" y="219456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Correlation-ID, security headers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2331720"/>
            <a:ext cx="9144" cy="155448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2487168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5117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 globalpay-net — 9 routers, 5 conceptual modules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143000" y="28346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97864" y="28620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customers, wallets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97864" y="309981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26280" y="28346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81144" y="28620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fraud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81144" y="309981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2-3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09560" y="283464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64424" y="28620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open_banking, cbdc, dashboard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64424" y="309981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4-5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3291840"/>
            <a:ext cx="9144" cy="13716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80760" y="3291840"/>
            <a:ext cx="9144" cy="13716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464040" y="3291840"/>
            <a:ext cx="9144" cy="13716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154680" y="342900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9544" y="345643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(16-alpine)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09544" y="369417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342900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8504" y="345643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(7-alpine)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18504" y="369417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rate-limit only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823960" y="3931920"/>
            <a:ext cx="2194560" cy="201168"/>
          </a:xfrm>
          <a:prstGeom prst="roundRect">
            <a:avLst>
              <a:gd name="adj" fmla="val 27273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78824" y="39319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:9090 + Grafana :3001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" y="4251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never holds the authoritative wallet balance — Postgres is the single source of truth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9496" y="4526280"/>
            <a:ext cx="11109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flow, step by step: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9496" y="4754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50109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Hit Nginx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52486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Filter/serve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76856" y="5212080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414016" y="4754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468880" y="50109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Proxy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468880" y="52486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FastAPI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51376" y="5212080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288536" y="4754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43400" y="50109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Correlate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343400" y="52486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assigned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25896" y="5212080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163056" y="4754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50109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Handle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17920" y="52486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logic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900416" y="5212080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037576" y="4754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92440" y="50109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Query DB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092440" y="52486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774936" y="5212080"/>
            <a:ext cx="137160" cy="9144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9912096" y="475488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66960" y="50109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Respond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9966960" y="5248656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+ JSON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context, decomposed into the five core processes at Level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22376" y="105156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10515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16936" y="105156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10515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11496" y="105156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1496" y="10515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06056" y="105156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06056" y="10515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Bank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CBDC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00616" y="1051560"/>
            <a:ext cx="1965960" cy="868680"/>
          </a:xfrm>
          <a:prstGeom prst="ellipse">
            <a:avLst/>
          </a:prstGeom>
          <a:solidFill>
            <a:srgbClr val="E8DFF5"/>
          </a:solidFill>
          <a:ln w="19050">
            <a:solidFill>
              <a:srgbClr val="8E6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0616" y="10515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" y="233172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2331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customers/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705356" y="1920240"/>
            <a:ext cx="9144" cy="411480"/>
          </a:xfrm>
          <a:prstGeom prst="line">
            <a:avLst/>
          </a:prstGeom>
          <a:noFill/>
          <a:ln w="1778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916936" y="233172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16936" y="2331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transactions/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99916" y="1920240"/>
            <a:ext cx="9144" cy="411480"/>
          </a:xfrm>
          <a:prstGeom prst="line">
            <a:avLst/>
          </a:prstGeom>
          <a:noFill/>
          <a:ln w="1778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11496" y="233172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11496" y="2331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alerts/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94476" y="1920240"/>
            <a:ext cx="9144" cy="411480"/>
          </a:xfrm>
          <a:prstGeom prst="line">
            <a:avLst/>
          </a:prstGeom>
          <a:noFill/>
          <a:ln w="1778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06056" y="233172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06056" y="2331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api_calls/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cbdc_ops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289036" y="1920240"/>
            <a:ext cx="9144" cy="411480"/>
          </a:xfrm>
          <a:prstGeom prst="line">
            <a:avLst/>
          </a:prstGeom>
          <a:noFill/>
          <a:ln w="1778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00616" y="2331720"/>
            <a:ext cx="1965960" cy="566928"/>
          </a:xfrm>
          <a:prstGeom prst="rect">
            <a:avLst/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0616" y="23317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live KPI/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view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483596" y="1920240"/>
            <a:ext cx="9144" cy="411480"/>
          </a:xfrm>
          <a:prstGeom prst="line">
            <a:avLst/>
          </a:prstGeom>
          <a:noFill/>
          <a:ln w="1778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74320" y="40690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406908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Merchant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 flipH="1" flipV="1">
            <a:off x="1179576" y="1920240"/>
            <a:ext cx="9144" cy="2148840"/>
          </a:xfrm>
          <a:prstGeom prst="line">
            <a:avLst/>
          </a:prstGeom>
          <a:noFill/>
          <a:ln w="1778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058400" y="4069080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13264" y="4069080"/>
            <a:ext cx="1719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analyst / Exec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 flipH="1">
            <a:off x="10972800" y="1920240"/>
            <a:ext cx="36576" cy="2148840"/>
          </a:xfrm>
          <a:prstGeom prst="line">
            <a:avLst/>
          </a:prstGeom>
          <a:noFill/>
          <a:ln w="17780">
            <a:solidFill>
              <a:srgbClr val="88888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882896" y="1325880"/>
            <a:ext cx="228600" cy="9144"/>
          </a:xfrm>
          <a:prstGeom prst="line">
            <a:avLst/>
          </a:prstGeom>
          <a:noFill/>
          <a:ln w="17780">
            <a:solidFill>
              <a:srgbClr val="888888"/>
            </a:solidFill>
            <a:prstDash val="solid"/>
            <a:headEnd type="triangl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4608576" y="8138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stream / decision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flipV="1">
            <a:off x="1705356" y="1920240"/>
            <a:ext cx="8778240" cy="978408"/>
          </a:xfrm>
          <a:prstGeom prst="line">
            <a:avLst/>
          </a:prstGeom>
          <a:noFill/>
          <a:ln w="17780">
            <a:solidFill>
              <a:srgbClr val="AAAAAA"/>
            </a:solidFill>
            <a:prstDash val="dash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3899916" y="1920240"/>
            <a:ext cx="6583680" cy="978408"/>
          </a:xfrm>
          <a:prstGeom prst="line">
            <a:avLst/>
          </a:prstGeom>
          <a:noFill/>
          <a:ln w="17780">
            <a:solidFill>
              <a:srgbClr val="AAAAAA"/>
            </a:solidFill>
            <a:prstDash val="dash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6094476" y="1920240"/>
            <a:ext cx="4389120" cy="978408"/>
          </a:xfrm>
          <a:prstGeom prst="line">
            <a:avLst/>
          </a:prstGeom>
          <a:noFill/>
          <a:ln w="17780">
            <a:solidFill>
              <a:srgbClr val="AAAAAA"/>
            </a:solidFill>
            <a:prstDash val="dash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8289036" y="1920240"/>
            <a:ext cx="2194560" cy="978408"/>
          </a:xfrm>
          <a:prstGeom prst="line">
            <a:avLst/>
          </a:prstGeom>
          <a:noFill/>
          <a:ln w="17780">
            <a:solidFill>
              <a:srgbClr val="AAAAAA"/>
            </a:solidFill>
            <a:prstDash val="dash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743200" y="4709160"/>
            <a:ext cx="6675120" cy="868680"/>
          </a:xfrm>
          <a:prstGeom prst="roundRect">
            <a:avLst>
              <a:gd name="adj" fmla="val 10526"/>
            </a:avLst>
          </a:prstGeom>
          <a:solidFill>
            <a:srgbClr val="F0F2FA"/>
          </a:solidFill>
          <a:ln w="12700">
            <a:solidFill>
              <a:srgbClr val="CC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80360" y="47548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(context view): the whole platform is a single process — "0 GlobalPay Platform" — with these same five entity groups around it. Level 1, shown above, decomposes that single process into its five internal parts.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576072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arrows: on-demand aggregation from data stores into 5.0 Reporting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ns0:sld xmlns:ns0="http://schemas.openxmlformats.org/presentationml/2006/main" xmlns:ns1="http://schemas.openxmlformats.org/drawingml/2006/main">
  <ns0:cSld name="Slide 13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82296" cy="6858000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3" name="Shape 1"/>
          <ns0:cNvSpPr/>
          <ns0:nvPr/>
        </ns0:nvSpPr>
        <ns0:spPr>
          <ns1:xfrm>
            <ns1:off x="292608" y="182880"/>
            <ns1:ext cx="310896" cy="310896"/>
          </ns1:xfrm>
          <ns1:prstGeom prst="roundRect">
            <ns1:avLst>
              <ns1:gd name="adj" fmla="val 28000"/>
            </ns1:avLst>
          </ns1:prstGeom>
          <ns1:solidFill>
            <ns1:srgbClr val="1E2761"/>
          </ns1:solidFill>
          <ns1:ln/>
        </ns0:spPr>
      </ns0:sp>
      <ns0:sp>
        <ns0:nvSpPr>
          <ns0:cNvPr id="4" name="Text 2"/>
          <ns0:cNvSpPr/>
          <ns0:nvPr/>
        </ns0:nvSpPr>
        <ns0:spPr>
          <ns1:xfrm>
            <ns1:off x="292608" y="182880"/>
            <ns1:ext cx="310896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28" b="1" dirty="0">
                <ns1:solidFill>
                  <ns1:srgbClr val="FFFFFF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G</ns1:t>
            </ns1:r>
            <ns1:endParaRPr lang="en-US" sz="1428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749808" y="164592"/>
            <ns1:ext cx="10680192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E2761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Database Entity Relationship Diagram (ERD)</ns1:t>
            </ns1:r>
            <ns1:endParaRPr lang="en-US" sz="2000" dirty="0"/>
          </ns1:p>
        </ns0:txBody>
      </ns0:sp>
      <ns0:sp>
        <ns0:nvSpPr>
          <ns0:cNvPr id="6" name="Text 4"/>
          <ns0:cNvSpPr/>
          <ns0:nvPr/>
        </ns0:nvSpPr>
        <ns0:spPr>
          <ns1:xfrm>
            <ns1:off x="749808" y="548640"/>
            <ns1:ext cx="1143000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55555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14 tables from backend/app/models/entities.py</ns1:t>
            </ns1:r>
            <ns1:endParaRPr lang="en-US" sz="1050" dirty="0"/>
          </ns1:p>
        </ns0:txBody>
      </ns0:sp>
      <ns0:sp>
        <ns0:nvSpPr>
          <ns0:cNvPr id="7" name="Shape 5"/>
          <ns0:cNvSpPr/>
          <ns0:nvPr/>
        </ns0:nvSpPr>
        <ns0:spPr>
          <ns1:xfrm>
            <ns1:off x="274320" y="91440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8" name="Shape 6"/>
          <ns0:cNvSpPr/>
          <ns0:nvPr/>
        </ns0:nvSpPr>
        <ns0:spPr>
          <ns1:xfrm>
            <ns1:off x="274320" y="91440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9" name="Text 7"/>
          <ns0:cNvSpPr/>
          <ns0:nvPr/>
        </ns0:nvSpPr>
        <ns0:spPr>
          <ns1:xfrm>
            <ns1:off x="274320" y="91440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User</ns1:t>
            </ns1:r>
            <ns1:endParaRPr lang="en-US" sz="950" dirty="0"/>
          </ns1:p>
        </ns0:txBody>
      </ns0:sp>
      <ns0:sp>
        <ns0:nvSpPr>
          <ns0:cNvPr id="10" name="Text 8"/>
          <ns0:cNvSpPr/>
          <ns0:nvPr/>
        </ns0:nvSpPr>
        <ns0:spPr>
          <ns1:xfrm>
            <ns1:off x="329184" y="117957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user_id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email, role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hashed_pw</ns1:t>
            </ns1:r>
            <ns1:endParaRPr lang="en-US" sz="760" dirty="0"/>
          </ns1:p>
        </ns0:txBody>
      </ns0:sp>
      <ns0:sp>
        <ns0:nvSpPr>
          <ns0:cNvPr id="11" name="Shape 9"/>
          <ns0:cNvSpPr/>
          <ns0:nvPr/>
        </ns0:nvSpPr>
        <ns0:spPr>
          <ns1:xfrm>
            <ns1:off x="2057400" y="91440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12" name="Shape 10"/>
          <ns0:cNvSpPr/>
          <ns0:nvPr/>
        </ns0:nvSpPr>
        <ns0:spPr>
          <ns1:xfrm>
            <ns1:off x="2057400" y="91440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13" name="Text 11"/>
          <ns0:cNvSpPr/>
          <ns0:nvPr/>
        </ns0:nvSpPr>
        <ns0:spPr>
          <ns1:xfrm>
            <ns1:off x="2057400" y="91440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Customer</ns1:t>
            </ns1:r>
            <ns1:endParaRPr lang="en-US" sz="950" dirty="0"/>
          </ns1:p>
        </ns0:txBody>
      </ns0:sp>
      <ns0:sp>
        <ns0:nvSpPr>
          <ns0:cNvPr id="14" name="Text 12"/>
          <ns0:cNvSpPr/>
          <ns0:nvPr/>
        </ns0:nvSpPr>
        <ns0:spPr>
          <ns1:xfrm>
            <ns1:off x="2112264" y="117957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customer_id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FK user_id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kyc_status</ns1:t>
            </ns1:r>
            <ns1:endParaRPr lang="en-US" sz="760" dirty="0"/>
          </ns1:p>
        </ns0:txBody>
      </ns0:sp>
      <ns0:sp>
        <ns0:nvSpPr>
          <ns0:cNvPr id="15" name="Shape 13"/>
          <ns0:cNvSpPr/>
          <ns0:nvPr/>
        </ns0:nvSpPr>
        <ns0:spPr>
          <ns1:xfrm>
            <ns1:off x="3840480" y="91440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16" name="Shape 14"/>
          <ns0:cNvSpPr/>
          <ns0:nvPr/>
        </ns0:nvSpPr>
        <ns0:spPr>
          <ns1:xfrm>
            <ns1:off x="3840480" y="91440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17" name="Text 15"/>
          <ns0:cNvSpPr/>
          <ns0:nvPr/>
        </ns0:nvSpPr>
        <ns0:spPr>
          <ns1:xfrm>
            <ns1:off x="3840480" y="91440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Merchant</ns1:t>
            </ns1:r>
            <ns1:endParaRPr lang="en-US" sz="950" dirty="0"/>
          </ns1:p>
        </ns0:txBody>
      </ns0:sp>
      <ns0:sp>
        <ns0:nvSpPr>
          <ns0:cNvPr id="18" name="Text 16"/>
          <ns0:cNvSpPr/>
          <ns0:nvPr/>
        </ns0:nvSpPr>
        <ns0:spPr>
          <ns1:xfrm>
            <ns1:off x="3895344" y="117957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merchant_id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FK user_id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business_name</ns1:t>
            </ns1:r>
            <ns1:endParaRPr lang="en-US" sz="760" dirty="0"/>
          </ns1:p>
        </ns0:txBody>
      </ns0:sp>
      <ns0:sp>
        <ns0:nvSpPr>
          <ns0:cNvPr id="19" name="Shape 17"/>
          <ns0:cNvSpPr/>
          <ns0:nvPr/>
        </ns0:nvSpPr>
        <ns0:spPr>
          <ns1:xfrm>
            <ns1:off x="5623560" y="91440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20" name="Shape 18"/>
          <ns0:cNvSpPr/>
          <ns0:nvPr/>
        </ns0:nvSpPr>
        <ns0:spPr>
          <ns1:xfrm>
            <ns1:off x="5623560" y="91440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21" name="Text 19"/>
          <ns0:cNvSpPr/>
          <ns0:nvPr/>
        </ns0:nvSpPr>
        <ns0:spPr>
          <ns1:xfrm>
            <ns1:off x="5623560" y="91440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Wallet</ns1:t>
            </ns1:r>
            <ns1:endParaRPr lang="en-US" sz="950" dirty="0"/>
          </ns1:p>
        </ns0:txBody>
      </ns0:sp>
      <ns0:sp>
        <ns0:nvSpPr>
          <ns0:cNvPr id="22" name="Text 20"/>
          <ns0:cNvSpPr/>
          <ns0:nvPr/>
        </ns0:nvSpPr>
        <ns0:spPr>
          <ns1:xfrm>
            <ns1:off x="5678424" y="117957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wallet_id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FK customer/merchant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balance</ns1:t>
            </ns1:r>
            <ns1:endParaRPr lang="en-US" sz="760" dirty="0"/>
          </ns1:p>
        </ns0:txBody>
      </ns0:sp>
      <ns0:sp>
        <ns0:nvSpPr>
          <ns0:cNvPr id="23" name="Shape 21"/>
          <ns0:cNvSpPr/>
          <ns0:nvPr/>
        </ns0:nvSpPr>
        <ns0:spPr>
          <ns1:xfrm>
            <ns1:off x="7406640" y="91440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24" name="Shape 22"/>
          <ns0:cNvSpPr/>
          <ns0:nvPr/>
        </ns0:nvSpPr>
        <ns0:spPr>
          <ns1:xfrm>
            <ns1:off x="7406640" y="91440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25" name="Text 23"/>
          <ns0:cNvSpPr/>
          <ns0:nvPr/>
        </ns0:nvSpPr>
        <ns0:spPr>
          <ns1:xfrm>
            <ns1:off x="7406640" y="91440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Consent</ns1:t>
            </ns1:r>
            <ns1:endParaRPr lang="en-US" sz="950" dirty="0"/>
          </ns1:p>
        </ns0:txBody>
      </ns0:sp>
      <ns0:sp>
        <ns0:nvSpPr>
          <ns0:cNvPr id="26" name="Text 24"/>
          <ns0:cNvSpPr/>
          <ns0:nvPr/>
        </ns0:nvSpPr>
        <ns0:spPr>
          <ns1:xfrm>
            <ns1:off x="7461504" y="117957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consent_id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FK customer_id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scopes, client</ns1:t>
            </ns1:r>
            <ns1:endParaRPr lang="en-US" sz="760" dirty="0"/>
          </ns1:p>
        </ns0:txBody>
      </ns0:sp>
      <ns0:sp>
        <ns0:nvSpPr>
          <ns0:cNvPr id="27" name="Shape 25"/>
          <ns0:cNvSpPr/>
          <ns0:nvPr/>
        </ns0:nvSpPr>
        <ns0:spPr>
          <ns1:xfrm>
            <ns1:off x="9189720" y="91440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28" name="Shape 26"/>
          <ns0:cNvSpPr/>
          <ns0:nvPr/>
        </ns0:nvSpPr>
        <ns0:spPr>
          <ns1:xfrm>
            <ns1:off x="9189720" y="91440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29" name="Text 27"/>
          <ns0:cNvSpPr/>
          <ns0:nvPr/>
        </ns0:nvSpPr>
        <ns0:spPr>
          <ns1:xfrm>
            <ns1:off x="9189720" y="91440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ApiCall</ns1:t>
            </ns1:r>
            <ns1:endParaRPr lang="en-US" sz="950" dirty="0"/>
          </ns1:p>
        </ns0:txBody>
      </ns0:sp>
      <ns0:sp>
        <ns0:nvSpPr>
          <ns0:cNvPr id="30" name="Text 28"/>
          <ns0:cNvSpPr/>
          <ns0:nvPr/>
        </ns0:nvSpPr>
        <ns0:spPr>
          <ns1:xfrm>
            <ns1:off x="9244584" y="117957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call_id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endpoint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status_code</ns1:t>
            </ns1:r>
            <ns1:endParaRPr lang="en-US" sz="760" dirty="0"/>
          </ns1:p>
        </ns0:txBody>
      </ns0:sp>
      <ns0:sp>
        <ns0:nvSpPr>
          <ns0:cNvPr id="31" name="Shape 29"/>
          <ns0:cNvSpPr/>
          <ns0:nvPr/>
        </ns0:nvSpPr>
        <ns0:spPr>
          <ns1:xfrm>
            <ns1:off x="274320" y="201168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32" name="Shape 30"/>
          <ns0:cNvSpPr/>
          <ns0:nvPr/>
        </ns0:nvSpPr>
        <ns0:spPr>
          <ns1:xfrm>
            <ns1:off x="274320" y="201168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33" name="Text 31"/>
          <ns0:cNvSpPr/>
          <ns0:nvPr/>
        </ns0:nvSpPr>
        <ns0:spPr>
          <ns1:xfrm>
            <ns1:off x="274320" y="201168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Transaction</ns1:t>
            </ns1:r>
            <ns1:endParaRPr lang="en-US" sz="950" dirty="0"/>
          </ns1:p>
        </ns0:txBody>
      </ns0:sp>
      <ns0:sp>
        <ns0:nvSpPr>
          <ns0:cNvPr id="34" name="Text 32"/>
          <ns0:cNvSpPr/>
          <ns0:nvPr/>
        </ns0:nvSpPr>
        <ns0:spPr>
          <ns1:xfrm>
            <ns1:off x="329184" y="227685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txn_id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sender/receiver_wallet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amount, status</ns1:t>
            </ns1:r>
            <ns1:endParaRPr lang="en-US" sz="760" dirty="0"/>
          </ns1:p>
        </ns0:txBody>
      </ns0:sp>
      <ns0:sp>
        <ns0:nvSpPr>
          <ns0:cNvPr id="35" name="Shape 33"/>
          <ns0:cNvSpPr/>
          <ns0:nvPr/>
        </ns0:nvSpPr>
        <ns0:spPr>
          <ns1:xfrm>
            <ns1:off x="2057400" y="201168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36" name="Shape 34"/>
          <ns0:cNvSpPr/>
          <ns0:nvPr/>
        </ns0:nvSpPr>
        <ns0:spPr>
          <ns1:xfrm>
            <ns1:off x="2057400" y="201168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37" name="Text 35"/>
          <ns0:cNvSpPr/>
          <ns0:nvPr/>
        </ns0:nvSpPr>
        <ns0:spPr>
          <ns1:xfrm>
            <ns1:off x="2057400" y="201168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LedgerEntry</ns1:t>
            </ns1:r>
            <ns1:endParaRPr lang="en-US" sz="950" dirty="0"/>
          </ns1:p>
        </ns0:txBody>
      </ns0:sp>
      <ns0:sp>
        <ns0:nvSpPr>
          <ns0:cNvPr id="38" name="Text 36"/>
          <ns0:cNvSpPr/>
          <ns0:nvPr/>
        </ns0:nvSpPr>
        <ns0:spPr>
          <ns1:xfrm>
            <ns1:off x="2112264" y="227685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entry_id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FK txn_id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direction, amount</ns1:t>
            </ns1:r>
            <ns1:endParaRPr lang="en-US" sz="760" dirty="0"/>
          </ns1:p>
        </ns0:txBody>
      </ns0:sp>
      <ns0:sp>
        <ns0:nvSpPr>
          <ns0:cNvPr id="39" name="Shape 37"/>
          <ns0:cNvSpPr/>
          <ns0:nvPr/>
        </ns0:nvSpPr>
        <ns0:spPr>
          <ns1:xfrm>
            <ns1:off x="3840480" y="201168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40" name="Shape 38"/>
          <ns0:cNvSpPr/>
          <ns0:nvPr/>
        </ns0:nvSpPr>
        <ns0:spPr>
          <ns1:xfrm>
            <ns1:off x="3840480" y="201168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41" name="Text 39"/>
          <ns0:cNvSpPr/>
          <ns0:nvPr/>
        </ns0:nvSpPr>
        <ns0:spPr>
          <ns1:xfrm>
            <ns1:off x="3840480" y="201168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FraudAlert</ns1:t>
            </ns1:r>
            <ns1:endParaRPr lang="en-US" sz="950" dirty="0"/>
          </ns1:p>
        </ns0:txBody>
      </ns0:sp>
      <ns0:sp>
        <ns0:nvSpPr>
          <ns0:cNvPr id="42" name="Text 40"/>
          <ns0:cNvSpPr/>
          <ns0:nvPr/>
        </ns0:nvSpPr>
        <ns0:spPr>
          <ns1:xfrm>
            <ns1:off x="3895344" y="227685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alert_id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FK txn_id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risk_score, status</ns1:t>
            </ns1:r>
            <ns1:endParaRPr lang="en-US" sz="760" dirty="0"/>
          </ns1:p>
        </ns0:txBody>
      </ns0:sp>
      <ns0:sp>
        <ns0:nvSpPr>
          <ns0:cNvPr id="43" name="Shape 41"/>
          <ns0:cNvSpPr/>
          <ns0:nvPr/>
        </ns0:nvSpPr>
        <ns0:spPr>
          <ns1:xfrm>
            <ns1:off x="5623560" y="201168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44" name="Shape 42"/>
          <ns0:cNvSpPr/>
          <ns0:nvPr/>
        </ns0:nvSpPr>
        <ns0:spPr>
          <ns1:xfrm>
            <ns1:off x="5623560" y="201168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45" name="Text 43"/>
          <ns0:cNvSpPr/>
          <ns0:nvPr/>
        </ns0:nvSpPr>
        <ns0:spPr>
          <ns1:xfrm>
            <ns1:off x="5623560" y="201168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Investigation</ns1:t>
            </ns1:r>
            <ns1:endParaRPr lang="en-US" sz="950" dirty="0"/>
          </ns1:p>
        </ns0:txBody>
      </ns0:sp>
      <ns0:sp>
        <ns0:nvSpPr>
          <ns0:cNvPr id="46" name="Text 44"/>
          <ns0:cNvSpPr/>
          <ns0:nvPr/>
        </ns0:nvSpPr>
        <ns0:spPr>
          <ns1:xfrm>
            <ns1:off x="5678424" y="227685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investigation_id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FK alert_id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reviewer, notes</ns1:t>
            </ns1:r>
            <ns1:endParaRPr lang="en-US" sz="760" dirty="0"/>
          </ns1:p>
        </ns0:txBody>
      </ns0:sp>
      <ns0:sp>
        <ns0:nvSpPr>
          <ns0:cNvPr id="47" name="Shape 45"/>
          <ns0:cNvSpPr/>
          <ns0:nvPr/>
        </ns0:nvSpPr>
        <ns0:spPr>
          <ns1:xfrm>
            <ns1:off x="7406640" y="201168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48" name="Shape 46"/>
          <ns0:cNvSpPr/>
          <ns0:nvPr/>
        </ns0:nvSpPr>
        <ns0:spPr>
          <ns1:xfrm>
            <ns1:off x="7406640" y="201168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49" name="Text 47"/>
          <ns0:cNvSpPr/>
          <ns0:nvPr/>
        </ns0:nvSpPr>
        <ns0:spPr>
          <ns1:xfrm>
            <ns1:off x="7406640" y="201168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ModelRegistry</ns1:t>
            </ns1:r>
            <ns1:endParaRPr lang="en-US" sz="950" dirty="0"/>
          </ns1:p>
        </ns0:txBody>
      </ns0:sp>
      <ns0:sp>
        <ns0:nvSpPr>
          <ns0:cNvPr id="50" name="Text 48"/>
          <ns0:cNvSpPr/>
          <ns0:nvPr/>
        </ns0:nvSpPr>
        <ns0:spPr>
          <ns1:xfrm>
            <ns1:off x="7461504" y="227685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model_id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version, metrics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trained_at</ns1:t>
            </ns1:r>
            <ns1:endParaRPr lang="en-US" sz="760" dirty="0"/>
          </ns1:p>
        </ns0:txBody>
      </ns0:sp>
      <ns0:sp>
        <ns0:nvSpPr>
          <ns0:cNvPr id="51" name="Shape 49"/>
          <ns0:cNvSpPr/>
          <ns0:nvPr/>
        </ns0:nvSpPr>
        <ns0:spPr>
          <ns1:xfrm>
            <ns1:off x="9189720" y="2011680"/>
            <ns1:ext cx="1691640" cy="96012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52" name="Shape 50"/>
          <ns0:cNvSpPr/>
          <ns0:nvPr/>
        </ns0:nvSpPr>
        <ns0:spPr>
          <ns1:xfrm>
            <ns1:off x="9189720" y="201168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53" name="Text 51"/>
          <ns0:cNvSpPr/>
          <ns0:nvPr/>
        </ns0:nvSpPr>
        <ns0:spPr>
          <ns1:xfrm>
            <ns1:off x="9189720" y="201168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AuditLog</ns1:t>
            </ns1:r>
            <ns1:endParaRPr lang="en-US" sz="950" dirty="0"/>
          </ns1:p>
        </ns0:txBody>
      </ns0:sp>
      <ns0:sp>
        <ns0:nvSpPr>
          <ns0:cNvPr id="54" name="Text 52"/>
          <ns0:cNvSpPr/>
          <ns0:nvPr/>
        </ns0:nvSpPr>
        <ns0:spPr>
          <ns1:xfrm>
            <ns1:off x="9244584" y="2276856"/>
            <ns1:ext cx="1581912" cy="64922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audit_id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action, actor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correlation_id</ns1:t>
            </ns1:r>
            <ns1:endParaRPr lang="en-US" sz="760" dirty="0"/>
          </ns1:p>
        </ns0:txBody>
      </ns0:sp>
      <ns0:sp>
        <ns0:nvSpPr>
          <ns0:cNvPr id="55" name="Shape 53"/>
          <ns0:cNvSpPr/>
          <ns0:nvPr/>
        </ns0:nvSpPr>
        <ns0:spPr>
          <ns1:xfrm>
            <ns1:off x="274320" y="3108960"/>
            <ns1:ext cx="1691640" cy="91440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56" name="Shape 54"/>
          <ns0:cNvSpPr/>
          <ns0:nvPr/>
        </ns0:nvSpPr>
        <ns0:spPr>
          <ns1:xfrm>
            <ns1:off x="274320" y="310896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57" name="Text 55"/>
          <ns0:cNvSpPr/>
          <ns0:nvPr/>
        </ns0:nvSpPr>
        <ns0:spPr>
          <ns1:xfrm>
            <ns1:off x="274320" y="310896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CbdcWallet</ns1:t>
            </ns1:r>
            <ns1:endParaRPr lang="en-US" sz="950" dirty="0"/>
          </ns1:p>
        </ns0:txBody>
      </ns0:sp>
      <ns0:sp>
        <ns0:nvSpPr>
          <ns0:cNvPr id="58" name="Text 56"/>
          <ns0:cNvSpPr/>
          <ns0:nvPr/>
        </ns0:nvSpPr>
        <ns0:spPr>
          <ns1:xfrm>
            <ns1:off x="329184" y="3374136"/>
            <ns1:ext cx="1581912" cy="6035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cbdc_wallet_id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FK customer_id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balance</ns1:t>
            </ns1:r>
            <ns1:endParaRPr lang="en-US" sz="760" dirty="0"/>
          </ns1:p>
        </ns0:txBody>
      </ns0:sp>
      <ns0:sp>
        <ns0:nvSpPr>
          <ns0:cNvPr id="59" name="Shape 57"/>
          <ns0:cNvSpPr/>
          <ns0:nvPr/>
        </ns0:nvSpPr>
        <ns0:spPr>
          <ns1:xfrm>
            <ns1:off x="2057400" y="3108960"/>
            <ns1:ext cx="1691640" cy="914400"/>
          </ns1:xfrm>
          <ns1:prstGeom prst="rect">
            <ns1:avLst/>
          </ns1:prstGeom>
          <ns1:solidFill>
            <ns1:srgbClr val="FFFFFF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60" name="Shape 58"/>
          <ns0:cNvSpPr/>
          <ns0:nvPr/>
        </ns0:nvSpPr>
        <ns0:spPr>
          <ns1:xfrm>
            <ns1:off x="2057400" y="3108960"/>
            <ns1:ext cx="1691640" cy="237744"/>
          </ns1:xfrm>
          <ns1:prstGeom prst="rect">
            <ns1:avLst/>
          </ns1:prstGeom>
          <ns1:solidFill>
            <ns1:srgbClr val="E8DFF5"/>
          </ns1:solidFill>
          <ns1:ln w="13970">
            <ns1:solidFill>
              <ns1:srgbClr val="8E6FC4"/>
            </ns1:solidFill>
            <ns1:prstDash val="solid"/>
          </ns1:ln>
        </ns0:spPr>
      </ns0:sp>
      <ns0:sp>
        <ns0:nvSpPr>
          <ns0:cNvPr id="61" name="Text 59"/>
          <ns0:cNvSpPr/>
          <ns0:nvPr/>
        </ns0:nvSpPr>
        <ns0:spPr>
          <ns1:xfrm>
            <ns1:off x="2057400" y="3108960"/>
            <ns1:ext cx="169164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950" b="1" dirty="0">
                <ns1:solidFill>
                  <ns1:srgbClr val="4B2E8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CbdcOperation</ns1:t>
            </ns1:r>
            <ns1:endParaRPr lang="en-US" sz="950" dirty="0"/>
          </ns1:p>
        </ns0:txBody>
      </ns0:sp>
      <ns0:sp>
        <ns0:nvSpPr>
          <ns0:cNvPr id="62" name="Text 60"/>
          <ns0:cNvSpPr/>
          <ns0:nvPr/>
        </ns0:nvSpPr>
        <ns0:spPr>
          <ns1:xfrm>
            <ns1:off x="2112264" y="3374136"/>
            <ns1:ext cx="1581912" cy="60350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PK op_id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FK cbdc_wallet_id</ns1:t>
            </ns1:r>
            <ns1:endParaRPr lang="en-US" sz="760" dirty="0"/>
          </ns1:p>
          <ns1:p>
            <ns1:pPr indent="0" marL="0">
              <ns1:buNone/>
            </ns1:pPr>
            <ns1:r>
              <ns1:rPr lang="en-US" sz="76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issue/transfer</ns1:t>
            </ns1:r>
            <ns1:endParaRPr lang="en-US" sz="760" dirty="0"/>
          </ns1:p>
        </ns0:txBody>
      </ns0:sp>
      <ns0:sp>
        <ns0:nvSpPr>
          <ns0:cNvPr id="63" name="Shape 61"/>
          <ns0:cNvSpPr/>
          <ns0:nvPr/>
        </ns0:nvSpPr>
        <ns0:spPr>
          <ns1:xfrm>
            <ns1:off x="1965960" y="1389888"/>
            <ns1:ext cx="9144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4" name="Shape 62"/>
          <ns0:cNvSpPr/>
          <ns0:nvPr/>
        </ns0:nvSpPr>
        <ns0:spPr>
          <ns1:xfrm>
            <ns1:off x="3749040" y="1389888"/>
            <ns1:ext cx="9144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5" name="Shape 63"/>
          <ns0:cNvSpPr/>
          <ns0:nvPr/>
        </ns0:nvSpPr>
        <ns0:spPr>
          <ns1:xfrm>
            <ns1:off x="5532120" y="1389888"/>
            <ns1:ext cx="9144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6" name="Shape 64"/>
          <ns0:cNvSpPr/>
          <ns0:nvPr/>
        </ns0:nvSpPr>
        <ns0:spPr>
          <ns1:xfrm>
            <ns1:off x="2903220" y="1828800"/>
            <ns1:ext cx="9144" cy="182880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7" name="Shape 65"/>
          <ns0:cNvSpPr/>
          <ns0:nvPr/>
        </ns0:nvSpPr>
        <ns0:spPr>
          <ns1:xfrm>
            <ns1:off x="1965960" y="2487168"/>
            <ns1:ext cx="9144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8" name="Shape 66"/>
          <ns0:cNvSpPr/>
          <ns0:nvPr/>
        </ns0:nvSpPr>
        <ns0:spPr>
          <ns1:xfrm>
            <ns1:off x="3749040" y="2487168"/>
            <ns1:ext cx="9144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69" name="Shape 67"/>
          <ns0:cNvSpPr/>
          <ns0:nvPr/>
        </ns0:nvSpPr>
        <ns0:spPr>
          <ns1:xfrm>
            <ns1:off x="5532120" y="2487168"/>
            <ns1:ext cx="9144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70" name="Shape 68"/>
          <ns0:cNvSpPr/>
          <ns0:nvPr/>
        </ns0:nvSpPr>
        <ns0:spPr>
          <ns1:xfrm>
            <ns1:off x="7315200" y="2487168"/>
            <ns1:ext cx="9144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71" name="Shape 69"/>
          <ns0:cNvSpPr/>
          <ns0:nvPr/>
        </ns0:nvSpPr>
        <ns0:spPr>
          <ns1:xfrm>
            <ns1:off x="1120140" y="2926080"/>
            <ns1:ext cx="9144" cy="182880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72" name="Shape 70"/>
          <ns0:cNvSpPr/>
          <ns0:nvPr/>
        </ns0:nvSpPr>
        <ns0:spPr>
          <ns1:xfrm>
            <ns1:off x="1965960" y="3520440"/>
            <ns1:ext cx="91440" cy="9144"/>
          </ns1:xfrm>
          <ns1:prstGeom prst="line">
            <ns1:avLst/>
          </ns1:prstGeom>
          <ns1:noFill/>
          <ns1:ln w="17780">
            <ns1:solidFill>
              <ns1:srgbClr val="666666"/>
            </ns1:solidFill>
            <ns1:prstDash val="solid"/>
            <ns1:headEnd type="none"/>
            <ns1:tailEnd type="triangle"/>
          </ns1:ln>
        </ns0:spPr>
      </ns0:sp>
      <ns0:sp>
        <ns0:nvSpPr>
          <ns0:cNvPr id="73" name="Text 71"/>
          <ns0:cNvSpPr/>
          <ns0:nvPr/>
        </ns0:nvSpPr>
        <ns0:spPr>
          <ns1:xfrm>
            <ns1:off x="274320" y="4206240"/>
            <ns1:ext cx="10607040" cy="20116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l" indent="0" marL="0">
              <ns1:buNone/>
            </ns1:pPr>
            <ns1:r>
              <ns1:rPr lang="en-US" sz="900" i="1" dirty="0">
                <ns1:solidFill>
                  <ns1:srgbClr val="666666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User -&gt; {Customer, Merchant}; Customer -&gt; {Wallet, Consent, CbdcWallet}; Merchant -&gt; Wallet. Transaction -&gt; {LedgerEntry, FraudAlert -&gt; Investigation}. ModelRegistry and AuditLog are cross-cutting.</ns1:t>
            </ns1:r>
            <ns1:endParaRPr lang="en-US" sz="900" dirty="0"/>
          </ns1:p>
        </ns0:txBody>
      </ns0:sp>
      <ns0:sp>
        <ns0:nvSpPr>
          <ns0:cNvPr id="74" name="Shape 72"/>
          <ns0:cNvSpPr/>
          <ns0:nvPr/>
        </ns0:nvSpPr>
        <ns0:spPr>
          <ns1:xfrm>
            <ns1:off x="274320" y="4663440"/>
            <ns1:ext cx="11521440" cy="1737360"/>
          </ns1:xfrm>
          <ns1:prstGeom prst="roundRect">
            <ns1:avLst>
              <ns1:gd name="adj" fmla="val 4211"/>
            </ns1:avLst>
          </ns1:prstGeom>
          <ns1:solidFill>
            <ns1:srgbClr val="F2F2F2"/>
          </ns1:solidFill>
          <ns1:ln w="12700">
            <ns1:solidFill>
              <ns1:srgbClr val="B7B7B7"/>
            </ns1:solidFill>
            <ns1:prstDash val="solid"/>
          </ns1:ln>
        </ns0:spPr>
      </ns0:sp>
      <ns0:sp>
        <ns0:nvSpPr>
          <ns0:cNvPr id="75" name="Text 73"/>
          <ns0:cNvSpPr/>
          <ns0:nvPr/>
        </ns0:nvSpPr>
        <ns0:spPr>
          <ns1:xfrm>
            <ns1:off x="438912" y="4773168"/>
            <ns1:ext cx="11192256" cy="29260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150" b="1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Why this shape</ns1:t>
            </ns1:r>
            <ns1:endParaRPr lang="en-US" sz="1150" dirty="0"/>
          </ns1:p>
        </ns0:txBody>
      </ns0:sp>
      <ns0:sp>
        <ns0:nvSpPr>
          <ns0:cNvPr id="76" name="Text 74"/>
          <ns0:cNvSpPr/>
          <ns0:nvPr/>
        </ns0:nvSpPr>
        <ns0:spPr>
          <ns1:xfrm>
            <ns1:off x="438912" y="5084064"/>
            <ns1:ext cx="11192256" cy="12252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0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Foreign keys connect users, customers, wallets, transactions, alerts and investigations without orphaned records</ns1:t>
            </ns1:r>
            <ns1:endParaRPr lang="en-US" sz="100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0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ModelRegistry and AuditLog sit outside the domain hierarchy on purpose — they observe every module, they belong to none</ns1:t>
            </ns1:r>
            <ns1:endParaRPr lang="en-US" sz="1000" dirty="0"/>
          </ns1:p>
          <ns1:p>
            <ns1:pPr marL="342900" indent="-342900">
              <ns1:lnSpc>
                <ns1:spcPct val="112000"/>
              </ns1:lnSpc>
              <ns1:buSzPct val="100000"/>
              <ns1:buChar char="•"/>
            </ns1:pPr>
            <ns1:r>
              <ns1:rPr lang="en-US" sz="1000" dirty="0">
                <ns1:solidFill>
                  <ns1:srgbClr val="333333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CbdcWallet is a separate table from Wallet — central-bank money is never mixed with commercial wallet balances</ns1:t>
            </ns1:r>
            <ns1:endParaRPr lang="en-US" sz="1000" dirty="0"/>
          </ns1:p>
        </ns0:txBody>
      </ns0:sp>
    </ns0:spTree>
  </ns0:cSld>
  <ns0:clrMapOvr>
    <ns1:masterClrMapping/>
  </ns0:clrMapOvr>
</ns0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Deployment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Laptop-optimised implementation, chosen for what's actually being assessed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16636" y="9601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D6E9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1500" y="10881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71500" y="132588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 UI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51276" y="9601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6140" y="10881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06140" y="132588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OpenAPI/Swagger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5916" y="9601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BDCD5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40780" y="10881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data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40780" y="132588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Pandas, NumPy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20556" y="96012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75420" y="1088136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75420" y="1325880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18745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947672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deployment boundary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2286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247345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" y="271119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0" y="2286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80944" y="247345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80944" y="271119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74920" y="2286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9784" y="247345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29784" y="271119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23760" y="2286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78624" y="247345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278624" y="271119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372600" y="2286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27464" y="247345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427464" y="2711196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Grafana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3520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630168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Compose, not K8s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" y="3941064"/>
            <a:ext cx="328269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boundaries are what's assessed here, not container orchestration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K3s/Kind remain available as an optional path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repeatable setup for examiner demo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97680" y="3520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2272" y="3630168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tooling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62272" y="3941064"/>
            <a:ext cx="328269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+ Postman/Newman API evidence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+ Trivy scan; CIS Controls alignment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kept outside source control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46720" y="3520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12700">
            <a:solidFill>
              <a:srgbClr val="B7B7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11312" y="3630168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excluded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11312" y="3941064"/>
            <a:ext cx="328269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banking integration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locally hosted LLM, no GPU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CI; Kubernetes manifests optional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ns0:sld xmlns:ns0="http://schemas.openxmlformats.org/presentationml/2006/main" xmlns:ns1="http://schemas.openxmlformats.org/drawingml/2006/main" xmlns:ns2="http://schemas.microsoft.com/office/powerpoint/2010/main">
  <ns0:cSld name="Slide 15"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Shape 0"/>
          <ns0:cNvSpPr/>
          <ns0:nvPr/>
        </ns0:nvSpPr>
        <ns0:spPr>
          <ns1:xfrm>
            <ns1:off x="0" y="0"/>
            <ns1:ext cx="82296" cy="6858000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3" name="Shape 1"/>
          <ns0:cNvSpPr/>
          <ns0:nvPr/>
        </ns0:nvSpPr>
        <ns0:spPr>
          <ns1:xfrm>
            <ns1:off x="292608" y="182880"/>
            <ns1:ext cx="310896" cy="310896"/>
          </ns1:xfrm>
          <ns1:prstGeom prst="roundRect">
            <ns1:avLst>
              <ns1:gd name="adj" fmla="val 28000"/>
            </ns1:avLst>
          </ns1:prstGeom>
          <ns1:solidFill>
            <ns1:srgbClr val="1E2761"/>
          </ns1:solidFill>
          <ns1:ln/>
        </ns0:spPr>
      </ns0:sp>
      <ns0:sp>
        <ns0:nvSpPr>
          <ns0:cNvPr id="4" name="Text 2"/>
          <ns0:cNvSpPr/>
          <ns0:nvPr/>
        </ns0:nvSpPr>
        <ns0:spPr>
          <ns1:xfrm>
            <ns1:off x="292608" y="182880"/>
            <ns1:ext cx="310896" cy="310896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algn="ctr" indent="0" marL="0">
              <ns1:buNone/>
            </ns1:pPr>
            <ns1:r>
              <ns1:rPr lang="en-US" sz="1428" b="1" dirty="0">
                <ns1:solidFill>
                  <ns1:srgbClr val="FFFFFF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G</ns1:t>
            </ns1:r>
            <ns1:endParaRPr lang="en-US" sz="1428" dirty="0"/>
          </ns1:p>
        </ns0:txBody>
      </ns0:sp>
      <ns0:sp>
        <ns0:nvSpPr>
          <ns0:cNvPr id="5" name="Text 3"/>
          <ns0:cNvSpPr/>
          <ns0:nvPr/>
        </ns0:nvSpPr>
        <ns0:spPr>
          <ns1:xfrm>
            <ns1:off x="749808" y="164592"/>
            <ns1:ext cx="10680192" cy="384048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2000" b="1" dirty="0">
                <ns1:solidFill>
                  <ns1:srgbClr val="1E2761"/>
                </ns1:solidFill>
                <ns1:latin typeface="Cambria" pitchFamily="34" charset="0"/>
                <ns1:ea typeface="Cambria" pitchFamily="34" charset="-122"/>
                <ns1:cs typeface="Cambria" pitchFamily="34" charset="-120"/>
              </ns1:rPr>
              <ns1:t>Applicable Standards &amp; Frameworks</ns1:t>
            </ns1:r>
            <ns1:endParaRPr lang="en-US" sz="2000" dirty="0"/>
          </ns1:p>
        </ns0:txBody>
      </ns0:sp>
      <ns0:sp>
        <ns0:nvSpPr>
          <ns0:cNvPr id="6" name="Text 4"/>
          <ns0:cNvSpPr/>
          <ns0:nvPr/>
        </ns0:nvSpPr>
        <ns0:spPr>
          <ns1:xfrm>
            <ns1:off x="749808" y="548640"/>
            <ns1:ext cx="11430000" cy="23774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indent="0" marL="0">
              <ns1:buNone/>
            </ns1:pPr>
            <ns1:r>
              <ns1:rPr lang="en-US" sz="1050" dirty="0">
                <ns1:solidFill>
                  <ns1:srgbClr val="555555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Where each control applies across the platform</ns1:t>
            </ns1:r>
            <ns1:endParaRPr lang="en-US" sz="1050" dirty="0"/>
          </ns1:p>
        </ns0:txBody>
      </ns0:sp>
      <ns0:graphicFrame>
        <ns0:nvGraphicFramePr>
          <ns0:cNvPr id="16" name="Table 0"/>
          <ns0:cNvGraphicFramePr>
            <ns1:graphicFrameLocks noGrp="1"/>
          </ns0:cNvGraphicFramePr>
          <ns0:nvPr>
            <ns0:extLst>
              <ns0:ext uri="{D42A27DB-BD31-4B8C-83A1-F6EECF244321}">
                <ns2:modId val="1579011935"/>
              </ns0:ext>
            </ns0:extLst>
          </ns0:nvPr>
        </ns0:nvGraphicFramePr>
        <ns0:xfrm>
          <ns1:off x="365760" y="1005840"/>
          <ns1:ext cx="11430000" cy="5394960"/>
        </ns0:xfrm>
        <ns1:graphic>
          <ns1:graphicData uri="http://schemas.openxmlformats.org/drawingml/2006/table">
            <ns1:tbl>
              <ns1:tblPr/>
              <ns1:tblGrid>
                <ns1:gridCol w="2377440"/>
                <ns1:gridCol w="2834640"/>
                <ns1:gridCol w="6217920"/>
              </ns1:tblGrid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Framework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Applies to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Why it matters here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NIST SP 800-63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Module 1 — Customer svc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Conceptual identity guidance; no formal AAL claim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JWT bearer; OAuth2/OIDC future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Modules 1, 2, 4 — identity/API auth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JWT today; enterprise federation is future work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ISO/IEC 27018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Modules 1, 5 — PostgreSQL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Protection of customer PII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PCI DSS v4.0*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Module 2 — Validation svc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Conceptual alignment; no real card data processed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ISO 20022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Modules 2, 4 — messaging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ISO 20022-inspired fields; no full message schema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ISO/IEC 42001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Module 3 — Classifier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AI management system governance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NIST AI RMF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Module 3 — Risk scoring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Govern, Map, Measure, Manage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Open Banking Std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Module 4 — AIS/PIS API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Consent-based third-party access rules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ISO/IEC 27001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All modules — baseline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Overall information security management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ISO/IEC 27017*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All modules — cloud layer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Cloud shared responsibility, if cloud-deployed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OWASP Top 10 + API Top 10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All API layers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Access control, input validation, rate limiting, API risks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NIST CSF 2.0 + CIS Controls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Cybersecurity / deployment layer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Govern/Protect/Detect + secure configuration/logging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  <ns1:tr h="384048"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COBIT 2019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All modules — governance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indent="0" marL="0">
                        <ns1:buNone/>
                      </ns1:pPr>
                      <ns1:r>
                        <ns1:rPr lang="en-US" sz="1000" dirty="0">
                          <ns1:solidFill>
                            <ns1:srgbClr val="333333"/>
                          </ns1:solidFill>
                          <ns1:latin typeface="Calibri" pitchFamily="34" charset="0"/>
                          <ns1:ea typeface="Calibri" pitchFamily="34" charset="-122"/>
                          <ns1:cs typeface="Calibri" pitchFamily="34" charset="-120"/>
                        </ns1:rPr>
                        <ns1:t>Audit log, accountability, traceability</ns1:t>
                      </ns1:r>
                      <ns1:endParaRPr lang="en-US" sz="1000" dirty="0">
                        <ns1:latin typeface="Calibri" charset="0"/>
                        <ns1:ea typeface="Calibri" charset="0"/>
                        <ns1:cs typeface="Calibri" charset="0"/>
                      </ns1:endParaRPr>
                    </ns1:p>
                  </ns1:txBody>
                  <ns1:tcPr marL="91440" marR="91440" marT="45720" marB="45720">
                    <ns1:lnL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L>
                    <ns1:lnR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R>
                    <ns1:lnT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T>
                    <ns1:lnB w="6350" cap="flat" cmpd="sng" algn="ctr">
                      <ns1:solidFill>
                        <ns1:srgbClr val="DDDDDD"/>
                      </ns1:solidFill>
                      <ns1:prstDash val="solid"/>
                      <ns1:round/>
                      <ns1:headEnd type="none" w="med" len="med"/>
                      <ns1:tailEnd type="none" w="med" len="me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8" name="Shape 5"/>
          <ns0:cNvSpPr/>
          <ns0:nvPr/>
        </ns0:nvSpPr>
        <ns0:spPr>
          <ns1:xfrm>
            <ns1:off x="365760" y="1005840"/>
            <ns1:ext cx="11430000" cy="384048"/>
          </ns1:xfrm>
          <ns1:prstGeom prst="rect">
            <ns1:avLst/>
          </ns1:prstGeom>
          <ns1:solidFill>
            <ns1:srgbClr val="1E2761"/>
          </ns1:solidFill>
          <ns1:ln/>
        </ns0:spPr>
      </ns0:sp>
      <ns0:sp>
        <ns0:nvSpPr>
          <ns0:cNvPr id="9" name="Text 6"/>
          <ns0:cNvSpPr/>
          <ns0:nvPr/>
        </ns0:nvSpPr>
        <ns0:spPr>
          <ns1:xfrm>
            <ns1:off x="365760" y="1005840"/>
            <ns1:ext cx="2377440" cy="384048"/>
          </ns1:xfrm>
          <ns1:prstGeom prst="rect">
            <ns1:avLst/>
          </ns1:prstGeom>
          <ns1:noFill/>
          <ns1:ln/>
        </ns0:spPr>
        <ns0:txBody>
          <ns1:bodyPr wrap="square" lIns="635" tIns="635" rIns="635" bIns="635" rtlCol="0" anchor="ctr"/>
          <ns1:lstStyle/>
          <ns1:p>
            <ns1:pPr indent="0" marL="0">
              <ns1:buNone/>
            </ns1:pPr>
            <ns1:r>
              <ns1:rPr lang="en-US" sz="10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Framework</ns1:t>
            </ns1:r>
            <ns1:endParaRPr lang="en-US" sz="1000" dirty="0"/>
          </ns1:p>
        </ns0:txBody>
      </ns0:sp>
      <ns0:sp>
        <ns0:nvSpPr>
          <ns0:cNvPr id="10" name="Text 7"/>
          <ns0:cNvSpPr/>
          <ns0:nvPr/>
        </ns0:nvSpPr>
        <ns0:spPr>
          <ns1:xfrm>
            <ns1:off x="2743200" y="1005840"/>
            <ns1:ext cx="2834640" cy="384048"/>
          </ns1:xfrm>
          <ns1:prstGeom prst="rect">
            <ns1:avLst/>
          </ns1:prstGeom>
          <ns1:noFill/>
          <ns1:ln/>
        </ns0:spPr>
        <ns0:txBody>
          <ns1:bodyPr wrap="square" lIns="635" tIns="635" rIns="635" bIns="635" rtlCol="0" anchor="ctr"/>
          <ns1:lstStyle/>
          <ns1:p>
            <ns1:pPr indent="0" marL="0">
              <ns1:buNone/>
            </ns1:pPr>
            <ns1:r>
              <ns1:rPr lang="en-US" sz="10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Applies to</ns1:t>
            </ns1:r>
            <ns1:endParaRPr lang="en-US" sz="1000" dirty="0"/>
          </ns1:p>
        </ns0:txBody>
      </ns0:sp>
      <ns0:sp>
        <ns0:nvSpPr>
          <ns0:cNvPr id="11" name="Text 8"/>
          <ns0:cNvSpPr/>
          <ns0:nvPr/>
        </ns0:nvSpPr>
        <ns0:spPr>
          <ns1:xfrm>
            <ns1:off x="5577840" y="1005840"/>
            <ns1:ext cx="6217920" cy="384048"/>
          </ns1:xfrm>
          <ns1:prstGeom prst="rect">
            <ns1:avLst/>
          </ns1:prstGeom>
          <ns1:noFill/>
          <ns1:ln/>
        </ns0:spPr>
        <ns0:txBody>
          <ns1:bodyPr wrap="square" lIns="635" tIns="635" rIns="635" bIns="635" rtlCol="0" anchor="ctr"/>
          <ns1:lstStyle/>
          <ns1:p>
            <ns1:pPr indent="0" marL="0">
              <ns1:buNone/>
            </ns1:pPr>
            <ns1:r>
              <ns1:rPr lang="en-US" sz="1000" b="1" dirty="0">
                <ns1:solidFill>
                  <ns1:srgbClr val="FFFFFF"/>
                </ns1:solidFill>
                <ns1:latin typeface="Calibri" pitchFamily="34" charset="0"/>
                <ns1:ea typeface="Calibri" pitchFamily="34" charset="-122"/>
                <ns1:cs typeface="Calibri" pitchFamily="34" charset="-120"/>
              </ns1:rPr>
              <ns1:t>Why it matters here</ns1:t>
            </ns1:r>
            <ns1:endParaRPr lang="en-US" sz="1000" dirty="0"/>
          </ns1:p>
        </ns0:txBody>
      </ns0:sp>
    </ns0:spTree>
  </ns0:cSld>
  <ns0:clrMapOvr>
    <ns1:masterClrMapping/>
  </ns0:clrMapOvr>
</ns0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" y="182880"/>
            <a:ext cx="310896" cy="310896"/>
          </a:xfrm>
          <a:prstGeom prst="roundRect">
            <a:avLst>
              <a:gd name="adj" fmla="val 28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182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28" dirty="0"/>
          </a:p>
        </p:txBody>
      </p:sp>
      <p:sp>
        <p:nvSpPr>
          <p:cNvPr id="5" name="Text 3"/>
          <p:cNvSpPr/>
          <p:nvPr/>
        </p:nvSpPr>
        <p:spPr>
          <a:xfrm>
            <a:off x="749808" y="164592"/>
            <a:ext cx="10680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Outcomes, Limitations &amp; Future Enhancements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548640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solution improves operations today and how it could evolve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D3F3EF"/>
          </a:solidFill>
          <a:ln w="12700">
            <a:solidFill>
              <a:srgbClr val="3FA7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11556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outcomes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426464"/>
            <a:ext cx="3328416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view of wallets, payments, fraud and APIs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customer and merchant onboarding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fraud investigation trail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visibility without operational access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1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evidence across modules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005840"/>
            <a:ext cx="3657600" cy="4846320"/>
          </a:xfrm>
          <a:prstGeom prst="roundRect">
            <a:avLst>
              <a:gd name="adj" fmla="val 2000"/>
            </a:avLst>
          </a:prstGeom>
          <a:solidFill>
            <a:srgbClr val="FCEBC9"/>
          </a:solidFill>
          <a:ln w="12700">
            <a:solidFill>
              <a:srgbClr val="E0A8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11556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62272" y="1426464"/>
            <a:ext cx="3328416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transactions only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Laptop-scale proof of concept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banks, card networks or central bank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DSS/ISO 27017 conceptual, not certified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 deployment, not high availability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00584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E8DFF5"/>
          </a:solidFill>
          <a:ln w="12700">
            <a:solidFill>
              <a:srgbClr val="8E6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115568"/>
            <a:ext cx="3236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02752" y="1426464"/>
            <a:ext cx="3236976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private networking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IdP / OIDC federation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Open Banking sandbox integration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 for scale</a:t>
            </a:r>
            <a:endParaRPr lang="en-US" sz="11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4B2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PCI DSS certification path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737360"/>
            <a:ext cx="1005840" cy="1005840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591556" y="1737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questions — architecture, trade-offs, and live demonstration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Abubakr · Diploma in AIOPS · EduQual Level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GlobalPay Digital Financial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GlobalPay Stage1 Truly Final</dc:title>
  <dc:subject>GlobalPay Stage 1 Final Presentation</dc:subject>
  <dc:creator>Muhammad Abubakr</dc:creator>
  <cp:lastModifiedBy>Muhammad Abubakr</cp:lastModifiedBy>
  <cp:revision>1</cp:revision>
  <dcterms:created xsi:type="dcterms:W3CDTF">2026-08-16T16:39:50Z</dcterms:created>
  <dcterms:modified xsi:type="dcterms:W3CDTF">2026-08-16T16:39:50Z</dcterms:modified>
</cp:coreProperties>
</file>