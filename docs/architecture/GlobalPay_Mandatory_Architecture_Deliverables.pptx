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365760"/>
            <a:ext cx="1005840" cy="1005840"/>
          </a:xfrm>
          <a:prstGeom prst="roundRect">
            <a:avLst>
              <a:gd name="adj" fmla="val 25455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591556" y="3657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144475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8F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7190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Mandatory Architecture &amp; Engineering Deliverables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396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17 mandatory diagrams, numbered exactly as listed in the exam brief</a:t>
            </a:r>
            <a:endParaRPr lang="en-US" sz="11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2468880"/>
          <a:ext cx="9601200" cy="416052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274320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Also in Stage 1 deck?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Financial Technology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High-Level Solution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System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 (composite index)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Wallet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Processing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Fraud Detection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CBDC Simulation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Network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Flow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Flow Diagram (Level 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Payment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Detection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Banking API Workflow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(combined in Module 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ERD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Diagram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- here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>
                    <a:lnL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5407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Financial Technology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five modules connect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1: Wallets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0350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89520" y="86868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44384" y="102412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2: Payments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44384" y="126187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ISO 20022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3: Fraud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350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42001, NIST AI RMF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89520" y="182880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44384" y="198424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4: Open Banking / CBDC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644384" y="222199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OAuth2, Open Banking Std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931920" y="1082650"/>
            <a:ext cx="3657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023360" y="8321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balance check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 flipH="1">
            <a:off x="3383280" y="1581912"/>
            <a:ext cx="4754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83464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 feedback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8778240" y="1581912"/>
            <a:ext cx="182880" cy="24688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6858000" y="1600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initiation (PIS)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2724912"/>
            <a:ext cx="10424160" cy="530352"/>
          </a:xfrm>
          <a:prstGeom prst="roundRect">
            <a:avLst>
              <a:gd name="adj" fmla="val 13793"/>
            </a:avLst>
          </a:prstGeom>
          <a:solidFill>
            <a:srgbClr val="3A2E6E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2770632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single source of truth for all 5 modules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008376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Redis: cache / rate-limit / idempotency only — never the source of truth for a balance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24028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281160" y="1581912"/>
            <a:ext cx="9144" cy="114300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4028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281160" y="2542032"/>
            <a:ext cx="9144" cy="182880"/>
          </a:xfrm>
          <a:prstGeom prst="line">
            <a:avLst/>
          </a:prstGeom>
          <a:noFill/>
          <a:ln w="17780">
            <a:solidFill>
              <a:srgbClr val="8888AA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069080" y="3566160"/>
            <a:ext cx="338328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721608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5: Executive Dashboard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123944" y="3959352"/>
            <a:ext cx="3273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&amp; leadership — read only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760720" y="3255264"/>
            <a:ext cx="9144" cy="310896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11880" y="3273552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only — KPIs, alerts, activity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809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1460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3405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48056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001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44652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597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Bank/CBDC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412480" y="44348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31936" y="44348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1–4 write to PostgreSQL; Module 5 reads only; only the named service calls above cross module boundaries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High-Level Solution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30,000-ft 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137617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3504" y="161391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React: customer, merchant, ops &amp; executive portals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210312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61061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layer (FastAPI)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" y="284835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wallets, payments, fraud, open banking, dashboard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333756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845052"/>
            <a:ext cx="8119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" y="4082796"/>
            <a:ext cx="8119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(system of record) + Redis (cache)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052560" y="1051560"/>
            <a:ext cx="1920240" cy="3520440"/>
          </a:xfrm>
          <a:prstGeom prst="roundRect">
            <a:avLst>
              <a:gd name="adj" fmla="val 3810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143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44000" y="1463040"/>
            <a:ext cx="1737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 / 27017 / 27018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42001 / NIST AI RMF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CSF 2.0 + CIS Controls</a:t>
            </a:r>
            <a:endParaRPr lang="en-US" sz="9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5488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30,000-ft view — each module diagram (4-7) zooms into one API layer service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System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reference — each module is fully detailed in diagrams 4-8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05156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143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1435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68880" y="105156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05156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-&gt; FastAPI (auth, customers, wallets, merchants) -&gt; PostgreSQL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192024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011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230428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2024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92024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transaction engine, double-entry ledger -&gt; ledger tables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78892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80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72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468880" y="278892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06040" y="278892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-&gt; Logistic Regression -&gt; risk scoring -&gt; human review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749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008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Banking/CBDC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468880" y="36576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365760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APIs, CBDC API, activity monitoring -&gt; separate CBDC ledger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526280"/>
            <a:ext cx="1737360" cy="713232"/>
          </a:xfrm>
          <a:prstGeom prst="roundRect">
            <a:avLst>
              <a:gd name="adj" fmla="val 7692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9103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468880" y="452628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4526280"/>
            <a:ext cx="8321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aggregator across Modules 1-4 -&gt; executive reports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544068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exists to index the detail, not duplicate it — see diagrams 4-8 for full architecture, framework badges, and data model per module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Wallet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wallet creation, balance operations, merchant accounts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Admin/Ops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login, wallet, merchant portal,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auth, customers, wallets (ISO 27001 baseline)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 Identity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bearer, RBAC, consent scopes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svc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KYC status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history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 &amp; KPIs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activity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hashing + encrypted/masked PII fields — ISO 27018, COBIT 2019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800-63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assurance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27018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customer PII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directly into PostgreSQL — see diagram 1 for the full enterprise data-flow context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Processing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double-entry ledger, transfers, merchant charges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transfer, view history, dashboards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payments (PCI DSS conceptual alignment, ISO 20022)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svc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controls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engine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machine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svc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 transfers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svc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POS/API charges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merch_pay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 + append-oriented audit trail — two balanced debit/credit ledger rows per payment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vocabulary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v4.0*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alignment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baseline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link to Module 3 for fraud scoring — the only true module-to-module call besides Module 4's PIS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info &amp; payment initiation APIs, CBDC wallet ops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app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(sim)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operations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Activity, health &amp; reports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open_banking, cbdc (Open Banking Std, OAuth2/JWT)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AIS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API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PIS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ops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record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monitor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Uptime/latency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svc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reports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api_calls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cbdc_wallets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consent scopes — every call logged, every consent revocable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Banking Std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API rules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consent scopes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lifecycle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20022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messaging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+ API Top 10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security controls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 calls Module 2's transfer logic directly rather than duplicating it — see diagram 8 for CBDC's separate ledger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Fraud Detection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engineering, classification, mandatory human review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0565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84301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mgr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0376" y="960120"/>
            <a:ext cx="1554480" cy="329184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960120"/>
            <a:ext cx="1444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751576" y="1289304"/>
            <a:ext cx="9144" cy="128016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9496" y="1417320"/>
            <a:ext cx="10424160" cy="384048"/>
          </a:xfrm>
          <a:prstGeom prst="roundRect">
            <a:avLst>
              <a:gd name="adj" fmla="val 14286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1444752"/>
            <a:ext cx="10314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ops console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4360" y="1645920"/>
            <a:ext cx="10314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queue, case review, model KPIs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751576" y="1801368"/>
            <a:ext cx="9144" cy="11887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39496" y="1920240"/>
            <a:ext cx="10424160" cy="1920240"/>
          </a:xfrm>
          <a:prstGeom prst="roundRect">
            <a:avLst>
              <a:gd name="adj" fmla="val 4762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9496" y="1975104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— fraud (ISO 42001, NIST AI RMF)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3613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9100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19100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595616" y="2212848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0480" y="2240280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650480" y="2478024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svc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3152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alert ID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613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100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9100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notes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95616" y="2743200"/>
            <a:ext cx="3230880" cy="457200"/>
          </a:xfrm>
          <a:prstGeom prst="roundRect">
            <a:avLst>
              <a:gd name="adj" fmla="val 12000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50480" y="2770632"/>
            <a:ext cx="3121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650480" y="3008376"/>
            <a:ext cx="3121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+ metrics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1576" y="3200400"/>
            <a:ext cx="9144" cy="73152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766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15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fraud_alerts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484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032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82015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7502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model_registry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91906" y="3273552"/>
            <a:ext cx="2434590" cy="310896"/>
          </a:xfrm>
          <a:prstGeom prst="roundRect">
            <a:avLst>
              <a:gd name="adj" fmla="val 17647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46770" y="3273552"/>
            <a:ext cx="23248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" y="365760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auto-block — human review is a project control aligned with ISO 42001 / NIST AI RMF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37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2024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42001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92024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management system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 flipH="1">
            <a:off x="539496" y="17465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137160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2024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AI RMF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92024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Govern/Map/Measure/Manage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 flipH="1">
            <a:off x="539496" y="3346704"/>
            <a:ext cx="11978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0451592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06456" y="15453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control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506456" y="17830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blocking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10451592" y="17465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0451592" y="30632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506456" y="3145536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0506456" y="3383280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451592" y="3346704"/>
            <a:ext cx="512064" cy="9144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68" name="Text 66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to fraud/risk/compliance teams only — never shown to customers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CBDC Simulation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 from the commercial wallet ledger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52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01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(sim)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40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26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775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API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14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800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49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 records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0088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2374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923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reporting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66276" y="2944368"/>
            <a:ext cx="22860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294876" y="2468880"/>
            <a:ext cx="1828800" cy="960120"/>
          </a:xfrm>
          <a:prstGeom prst="roundRect">
            <a:avLst>
              <a:gd name="adj" fmla="val 5714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49740" y="2468880"/>
            <a:ext cx="1719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dashboard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65276" y="388620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reads cbdc_wallets and cbdc_operations; these records remain separate from commercial wallet data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OAuth2/JWT, ISO 20022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918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+ messaging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194560" y="1280160"/>
            <a:ext cx="928116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9966960" y="100584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8DCEA"/>
          </a:solidFill>
          <a:ln w="12700">
            <a:solidFill>
              <a:srgbClr val="C96F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824" y="10698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COBIT 2019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021824" y="1307592"/>
            <a:ext cx="18105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2E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 flipH="1">
            <a:off x="7237476" y="1280160"/>
            <a:ext cx="2729484" cy="1188720"/>
          </a:xfrm>
          <a:prstGeom prst="line">
            <a:avLst/>
          </a:prstGeom>
          <a:noFill/>
          <a:ln w="12700">
            <a:solidFill>
              <a:srgbClr val="C96FA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Central-bank money is never mixed with commercial wallet balances — this table separation is the audit boundary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Network Architecture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compose.yaml — 6 containers on one Docker network (globalpay-net)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937760" y="868680"/>
            <a:ext cx="2286000" cy="384048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92624" y="868680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(examiner)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80760" y="1252728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37760" y="1389888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92624" y="141732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(frontend:80)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992624" y="1655064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3000 -&gt; 80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792224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37760" y="1929384"/>
            <a:ext cx="2286000" cy="402336"/>
          </a:xfrm>
          <a:prstGeom prst="roundRect">
            <a:avLst>
              <a:gd name="adj" fmla="val 13636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92624" y="1956816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(backend:8000)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92624" y="2194560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Correlation-ID, security headers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2331720"/>
            <a:ext cx="9144" cy="155448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2487168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551176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network globalpay-net — 9 routers, 5 conceptual modules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4300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786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customers, wallets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9786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2628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8114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payments, fraud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8114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2-3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909560" y="2834640"/>
            <a:ext cx="3108960" cy="457200"/>
          </a:xfrm>
          <a:prstGeom prst="roundRect">
            <a:avLst>
              <a:gd name="adj" fmla="val 12000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64424" y="286207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open_banking, cbdc, dashboard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964424" y="3099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4-5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69748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08076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464040" y="3291840"/>
            <a:ext cx="9144" cy="1371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15468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954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(16-alpine)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20954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63640" y="3429000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8504" y="3456432"/>
            <a:ext cx="2633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(7-alpine)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318504" y="3694176"/>
            <a:ext cx="2633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/ rate-limit only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23960" y="3931920"/>
            <a:ext cx="2194560" cy="201168"/>
          </a:xfrm>
          <a:prstGeom prst="roundRect">
            <a:avLst>
              <a:gd name="adj" fmla="val 27273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78824" y="3931920"/>
            <a:ext cx="2084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:9090 + Grafana :3001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" y="42519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never holds the authoritative wallet balance — Postgres is the single source of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Flow Diagram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single request traverses the network tier by tier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Hit Nginx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Filter/serve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Proxy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FastAPI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Correlate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assigned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Handle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logic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Query DB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network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Respond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 + JSON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0 (Context)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as a single process, with its external entities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27448" y="2514600"/>
            <a:ext cx="2743200" cy="146304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51460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GlobalPay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61120" y="86868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15984" y="86868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0" y="470916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15984" y="470916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bank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bank (sim)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27448" y="5029200"/>
            <a:ext cx="2651760" cy="73152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5029200"/>
            <a:ext cx="2542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74520" y="1600200"/>
            <a:ext cx="5596128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 flipH="1">
            <a:off x="4727448" y="1600200"/>
            <a:ext cx="5559552" cy="237744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874520" y="2514600"/>
            <a:ext cx="5596128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4" name="Shape 22"/>
          <p:cNvSpPr/>
          <p:nvPr/>
        </p:nvSpPr>
        <p:spPr>
          <a:xfrm flipH="1" flipV="1">
            <a:off x="4727448" y="2514600"/>
            <a:ext cx="5559552" cy="219456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6053328" y="2514600"/>
            <a:ext cx="1417320" cy="251460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Registration, payments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961120" y="16459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Settlements, reports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case decisions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961120" y="397764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AIS/PIS calls, CBDC ops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840480" y="4709160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exec reports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Flow Diagram — Level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decomposed into its five core processes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2237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91693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1693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1149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149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0605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0605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CBDC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0616" y="1188720"/>
            <a:ext cx="1965960" cy="868680"/>
          </a:xfrm>
          <a:prstGeom prst="ellipse">
            <a:avLst/>
          </a:prstGeom>
          <a:solidFill>
            <a:srgbClr val="E8DFF5"/>
          </a:solidFill>
          <a:ln w="1905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0616" y="118872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customers/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70535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1693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transactions/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89991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1149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alerts/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09447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0605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api_calls/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cbdc_ops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28903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0616" y="2468880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live KPI/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0483596" y="2057400"/>
            <a:ext cx="9144" cy="41148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7432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/ Merchant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 flipH="1" flipV="1">
            <a:off x="1179576" y="2057400"/>
            <a:ext cx="9144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058400" y="4206240"/>
            <a:ext cx="182880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13264" y="4206240"/>
            <a:ext cx="17190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analyst / Exec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 flipH="1">
            <a:off x="10972800" y="2057400"/>
            <a:ext cx="36576" cy="2148840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none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882896" y="1463040"/>
            <a:ext cx="228600" cy="9144"/>
          </a:xfrm>
          <a:prstGeom prst="line">
            <a:avLst/>
          </a:prstGeom>
          <a:noFill/>
          <a:ln w="17780">
            <a:solidFill>
              <a:srgbClr val="888888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4608576" y="9509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txn stream / decision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 flipV="1">
            <a:off x="1705356" y="2057400"/>
            <a:ext cx="877824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3899916" y="2057400"/>
            <a:ext cx="658368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6094476" y="2057400"/>
            <a:ext cx="438912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8289036" y="2057400"/>
            <a:ext cx="2194560" cy="978408"/>
          </a:xfrm>
          <a:prstGeom prst="line">
            <a:avLst/>
          </a:prstGeom>
          <a:noFill/>
          <a:ln w="17780">
            <a:solidFill>
              <a:srgbClr val="AAAAAA"/>
            </a:solidFill>
            <a:prstDash val="dash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4937760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arrows: on-demand aggregation from data stores into 5.0 Reporting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Payment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branch shown explicitly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Submit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pays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Validate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+ PCI DSS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Debit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ledger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Credit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ledger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Audited record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Notify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update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473452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28316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/ insufficient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28316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 &amp; notify customer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323844" y="3931920"/>
            <a:ext cx="9144" cy="274320"/>
          </a:xfrm>
          <a:prstGeom prst="line">
            <a:avLst/>
          </a:prstGeom>
          <a:noFill/>
          <a:ln w="17780">
            <a:solidFill>
              <a:srgbClr val="C0392B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219956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Detection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scoring with mandatory human checkpoint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Ingest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Module 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Extract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signals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Score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Flag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threshold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Review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decides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recorded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320540" y="420624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D3F3EF"/>
          </a:solidFill>
          <a:ln w="12700">
            <a:solidFill>
              <a:srgbClr val="3FA79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5404" y="4393692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threshold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75404" y="4631436"/>
            <a:ext cx="2176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5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alert; payment continues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170932" y="3931920"/>
            <a:ext cx="9144" cy="274320"/>
          </a:xfrm>
          <a:prstGeom prst="line">
            <a:avLst/>
          </a:prstGeom>
          <a:noFill/>
          <a:ln w="17780">
            <a:solidFill>
              <a:srgbClr val="2E7D32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067044" y="3950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Banking API Workflow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access to account and payment APIs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122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Request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asks consent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327148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473452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D6E9FF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28316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Approve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316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4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authorizes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74236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320540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75404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75404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scoped consent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21324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67628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E8DFF5"/>
          </a:solidFill>
          <a:ln w="12700">
            <a:solidFill>
              <a:srgbClr val="8E6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2492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Call API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22492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 / PIS / CBDC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8412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014716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BDCD5"/>
          </a:solidFill>
          <a:ln w="12700">
            <a:solidFill>
              <a:srgbClr val="E0785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69580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Log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069580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715500" y="3337560"/>
            <a:ext cx="146304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861804" y="2743200"/>
            <a:ext cx="1700784" cy="1188720"/>
          </a:xfrm>
          <a:prstGeom prst="roundRect">
            <a:avLst>
              <a:gd name="adj" fmla="val 4615"/>
            </a:avLst>
          </a:prstGeom>
          <a:solidFill>
            <a:srgbClr val="FCEBC9"/>
          </a:solidFill>
          <a:ln w="12700">
            <a:solidFill>
              <a:srgbClr val="E0A83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16668" y="3136392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Expire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916668" y="337413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expiry/revoke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Entity Relationship Diagram (ERD)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tables from backend/app/models/entities.py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91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role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hashed_pw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1226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kyc_status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84048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9534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merchant_id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business_name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562356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2356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7842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customer/merchant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40664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0664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46150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consent_id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scopes, client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9189720" y="91440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89720" y="91440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244584" y="117957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call_id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status_code</a:t>
            </a:r>
            <a:endParaRPr lang="en-US" sz="760" dirty="0"/>
          </a:p>
        </p:txBody>
      </p:sp>
      <p:sp>
        <p:nvSpPr>
          <p:cNvPr id="33" name="Shape 31"/>
          <p:cNvSpPr/>
          <p:nvPr/>
        </p:nvSpPr>
        <p:spPr>
          <a:xfrm>
            <a:off x="2743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291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sender/receiver_wallet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status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205740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05740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LedgerEntry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11226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entry_id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direction, amount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384048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FraudAlert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89534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txn_id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risk_score, status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562356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2356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67842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investigation_id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alert_id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reviewer, notes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740664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0664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ModelRegistry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46150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model_id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version, metrics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trained_at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9189720" y="2011680"/>
            <a:ext cx="1691640" cy="96012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9720" y="201168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AuditLog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9244584" y="2276856"/>
            <a:ext cx="1581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audit_id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actor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correlation_id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27432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CbdcWallet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32918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customer_id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760" dirty="0"/>
          </a:p>
        </p:txBody>
      </p:sp>
      <p:sp>
        <p:nvSpPr>
          <p:cNvPr id="61" name="Shape 59"/>
          <p:cNvSpPr/>
          <p:nvPr/>
        </p:nvSpPr>
        <p:spPr>
          <a:xfrm>
            <a:off x="2057400" y="3108960"/>
            <a:ext cx="169164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solidFill>
            <a:srgbClr val="E8DFF5"/>
          </a:solidFill>
          <a:ln w="13970">
            <a:solidFill>
              <a:srgbClr val="8E6F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057400" y="3108960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CbdcOperation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112264" y="3374136"/>
            <a:ext cx="1581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op_id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cbdc_wallet_id</a:t>
            </a:r>
            <a:endParaRPr lang="en-US" sz="760" dirty="0"/>
          </a:p>
          <a:p>
            <a:pPr indent="0" marL="0">
              <a:buNone/>
            </a:pPr>
            <a:r>
              <a:rPr lang="en-US" sz="76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issue/redeem</a:t>
            </a:r>
            <a:endParaRPr lang="en-US" sz="760" dirty="0"/>
          </a:p>
        </p:txBody>
      </p:sp>
      <p:sp>
        <p:nvSpPr>
          <p:cNvPr id="65" name="Shape 63"/>
          <p:cNvSpPr/>
          <p:nvPr/>
        </p:nvSpPr>
        <p:spPr>
          <a:xfrm>
            <a:off x="196596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374904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532120" y="138988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2903220" y="182880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196596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374904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553212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315200" y="2487168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1120140" y="2926080"/>
            <a:ext cx="9144" cy="182880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1965960" y="3520440"/>
            <a:ext cx="9144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75" name="Text 73"/>
          <p:cNvSpPr/>
          <p:nvPr/>
        </p:nvSpPr>
        <p:spPr>
          <a:xfrm>
            <a:off x="274320" y="420624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-&gt; {Customer, Merchant}; Customer -&gt; {Wallet, Consent, CbdcWallet}; Merchant -&gt; Wallet. Transaction -&gt; {LedgerEntry, FraudAlert -&gt; Investigation}. ModelRegistry and AuditLog are cross-cutting.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" y="182880"/>
            <a:ext cx="310896" cy="310896"/>
          </a:xfrm>
          <a:prstGeom prst="roundRect">
            <a:avLst>
              <a:gd name="adj" fmla="val 28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92608" y="182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2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endParaRPr lang="en-US" sz="1428" dirty="0"/>
          </a:p>
        </p:txBody>
      </p:sp>
      <p:sp>
        <p:nvSpPr>
          <p:cNvPr id="5" name="Text 3"/>
          <p:cNvSpPr/>
          <p:nvPr/>
        </p:nvSpPr>
        <p:spPr>
          <a:xfrm>
            <a:off x="749808" y="16459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Diagram — Registration Through Executive Reporting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548640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lifecycle across all five modules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1475720" y="18288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11475720" y="182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229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8346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4088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05256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B7B7B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8686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1064240" y="1234440"/>
            <a:ext cx="0" cy="5074920"/>
          </a:xfrm>
          <a:prstGeom prst="line">
            <a:avLst/>
          </a:prstGeom>
          <a:noFill/>
          <a:ln w="12700">
            <a:solidFill>
              <a:srgbClr val="BBBBBB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822960" y="150876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822960" y="1335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registration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834640" y="1892808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2834640" y="17190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29200" y="2276856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029200" y="2103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customer + wallet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 flipH="1">
            <a:off x="2834640" y="2660904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834640" y="248716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Created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11457432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5394960" y="31821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later 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22960" y="3456432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22960" y="328269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payment / API call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4640" y="3840480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2834640" y="36667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/payments or PIS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029200" y="4224528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5029200" y="40507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transaction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 flipH="1">
            <a:off x="5029200" y="4608576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5029200" y="44348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4992624"/>
            <a:ext cx="40233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029200" y="481888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two ledger entries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 flipH="1">
            <a:off x="2834640" y="5376672"/>
            <a:ext cx="219456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2834640" y="52029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052560" y="5760720"/>
            <a:ext cx="2011680" cy="9144"/>
          </a:xfrm>
          <a:prstGeom prst="line">
            <a:avLst/>
          </a:prstGeom>
          <a:noFill/>
          <a:ln w="17780">
            <a:solidFill>
              <a:srgbClr val="666666"/>
            </a:solidFill>
            <a:prstDash val="solid"/>
            <a:headEnd type="none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9052560" y="5586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aggregation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65760" y="6080760"/>
            <a:ext cx="1143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vertical lines are lifelines; each horizontal arrow is one API call or DB operation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2026-08-17T04:53:33Z</dcterms:created>
  <dcterms:modified xsi:type="dcterms:W3CDTF">2026-08-17T04:53:33Z</dcterms:modified>
</cp:coreProperties>
</file>