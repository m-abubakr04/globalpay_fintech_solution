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?>
<ns0:Relationships xmlns:ns0="http://schemas.openxmlformats.org/package/2006/relationships"><ns0:Relationship Id="rId1" Type="http://schemas.openxmlformats.org/officeDocument/2006/relationships/image" Target="../media/section8-network-architecture.png" /></ns0: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?>
<ns0:Relationships xmlns:ns0="http://schemas.openxmlformats.org/package/2006/relationships"><ns0:Relationship Id="rId1" Type="http://schemas.openxmlformats.org/officeDocument/2006/relationships/image" Target="../media/section8-dfd-level-0.png" /></ns0:Relationships>
</file>

<file path=ppt/slides/_rels/slide13.xml.rels><?xml version='1.0' encoding='UTF-8'?>
<ns0:Relationships xmlns:ns0="http://schemas.openxmlformats.org/package/2006/relationships"><ns0:Relationship Id="rId1" Type="http://schemas.openxmlformats.org/officeDocument/2006/relationships/image" Target="../media/section8-dfd-level-1.png" /></ns0: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?>
<ns0:Relationships xmlns:ns0="http://schemas.openxmlformats.org/package/2006/relationships"><ns0:Relationship Id="rId1" Type="http://schemas.openxmlformats.org/officeDocument/2006/relationships/image" Target="../media/section8-database-erd.png" /></ns0: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365760"/>
            <a:ext cx="1005840" cy="1005840"/>
          </a:xfrm>
          <a:prstGeom prst="roundRect">
            <a:avLst>
              <a:gd name="adj" fmla="val 25455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591556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14447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FD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71907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Mandatory Architecture &amp; Engineering Deliverables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3969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• 17 required diagrams • numbered to match the examination brief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2468880"/>
          <a:ext cx="9601200" cy="4160520"/>
        </p:xfrm>
        <a:graphic>
          <a:graphicData uri="http://schemas.openxmlformats.org/drawingml/2006/table">
            <a:tbl>
              <a:tblPr/>
              <a:tblGrid>
                <a:gridCol w="640080"/>
                <a:gridCol w="6217920"/>
                <a:gridCol w="274320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 coverage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Financial Technology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High-Level Solution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System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 (composite index)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Wallet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Processing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Fraud Detection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CBDC Simulation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Network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Flow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Payment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Detection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ERD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Financial Technology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five modules connect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1: Wallets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0350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58952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4438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2: Payments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64438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DSS, ISO 20022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3: Fraud AI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350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42001, NIST AI RMF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8952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4438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4: Open Banking / CBDC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64438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OAuth2, Open Banking Std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931920" y="1082650"/>
            <a:ext cx="3657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023360" y="8321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balance check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 flipH="1">
            <a:off x="3383280" y="1581912"/>
            <a:ext cx="4754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834640" y="1600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 feedback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 flipV="1">
            <a:off x="8778240" y="1581912"/>
            <a:ext cx="182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6858000" y="1600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initiation (PIS)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724912"/>
            <a:ext cx="10424160" cy="530352"/>
          </a:xfrm>
          <a:prstGeom prst="roundRect">
            <a:avLst>
              <a:gd name="adj" fmla="val 13793"/>
            </a:avLst>
          </a:prstGeom>
          <a:solidFill>
            <a:srgbClr val="3A2E6E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770632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single source of truth for all 5 modules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3008376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 cache / rate-limit / idempotency only — never the source of truth for a balance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4028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28116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24028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28116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069080" y="356616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72160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5: Executive Dashboard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23944" y="395935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&amp; leadership — read only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760720" y="3255264"/>
            <a:ext cx="9144" cy="310896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3611880" y="327355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 — KPIs, alerts, activity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809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51460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3405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48056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001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44652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6597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Bank/CBDC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41248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3193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1–4 write to PostgreSQL; Module 5 reads only; only the named service calls above cross module boundaries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Solution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30,000-ft 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37617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3504" y="161391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React: customer, merchant, ops &amp; executive portals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210312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28600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261061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 (FastAPI)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" y="284835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wallets, payments, fraud, open banking, dashboard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333756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352044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" y="384505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" y="408279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(system of record) + Redis (cache)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52560" y="1051560"/>
            <a:ext cx="1920240" cy="3520440"/>
          </a:xfrm>
          <a:prstGeom prst="roundRect">
            <a:avLst>
              <a:gd name="adj" fmla="val 3810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1143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0" y="1463040"/>
            <a:ext cx="1737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 / 27017 / 27018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 / NIST AI RMF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 2.0 + CIS Controls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30,000-ft view — each module diagram (4-7) zooms into one API layer service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System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reference — each module is fully detailed in diagrams 4-8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143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1435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68880" y="105156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105156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-&gt; FastAPI (auth, customers, wallets, merchants) -&gt; PostgreSQL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192024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2024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06040" y="192024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transaction engine, double-entry ledger -&gt; ledger tables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880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3172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468880" y="278892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06040" y="278892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-&gt; Logistic Regression -&gt; risk scoring -&gt; human review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" y="4041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Banking/CBDC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468880" y="36576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3657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APIs, CBDC API, activity monitoring -&gt; separate CBDC ledger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52628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617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49103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468880" y="452628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452628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aggregator across Modules 1-4 -&gt; executive reports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544068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slide exists to index the detail, not duplicate it — see diagrams 4-8 for full architecture, framework badges, and data model per module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Wallet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wallet creation, balance operations, merchant accounts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Admin/Ops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login, wallet, merchant portal,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auth, customers, wallets (ISO 27001 baseline)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Identity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bearer, RBAC, consent scopes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svc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KYC status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history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&amp; KPIs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activity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 password hashing + encrypted/masked PII fields — ISO 27018, COBIT 2019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800-63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assurance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27018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customer PII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directly into PostgreSQL — see diagram 1 for the full enterprise data-flow context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Processing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double-entry ledger, transfers, merchant charges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transfer, view history, dashboards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payments (PCI DSS conceptual alignment, ISO 20022)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svc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controls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engine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 transfers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POS/API charges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merch_pay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keys + append-oriented audit trail — two balanced debit/credit ledger rows per payment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vocabulary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alignment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link to Module 3 for fraud scoring — the only true module-to-module call besides Module 4's PIS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info &amp; payment initiation APIs, CBDC wallet ops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app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(sim)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operations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Activity, health &amp;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open_banking, cbdc (Open Banking Std, OAuth2/JWT)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AIS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API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PIS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record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monitor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Uptime/latency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reports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api_calls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consent scopes — every call logged, every consent revocable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Std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 rules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consent scopes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lifecycle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messaging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 calls Module 2's transfer logic directly rather than duplicating it — see diagram 8 for CBDC's separate ledger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Fraud Detection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engineering, classification, mandatory human review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mgr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ops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queue, case review, model KPIs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fraud (ISO 42001, NIST AI RMF)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alert ID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notes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+ metrics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fraud_alerts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model_registry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auto-block — human review is a project control aligned with ISO 42001 / NIST AI RMF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42001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management system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Govern/Map/Measure/Manage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control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blocking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to fraud/risk/compliance teams only — never shown to customers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CBDC Simulation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separate from the commercial wallet ledger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652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01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(sim)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940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226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775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514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800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49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ledger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088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2374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923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svc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662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2948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497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dashboard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flipH="1">
            <a:off x="1339596" y="3429000"/>
            <a:ext cx="6812280" cy="685800"/>
          </a:xfrm>
          <a:prstGeom prst="line">
            <a:avLst/>
          </a:prstGeom>
          <a:noFill/>
          <a:ln w="17780">
            <a:solidFill>
              <a:srgbClr val="888888"/>
            </a:solidFill>
            <a:prstDash val="dash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065276" y="388620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analytics reports activity; balances remain separate from Module 1 wallets — kept as a separate ledger for audit clarity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OAuth2/JWT, ISO 20022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918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+ messaging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94560" y="1280160"/>
            <a:ext cx="928116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996696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2182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02182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 flipH="1">
            <a:off x="7237476" y="1280160"/>
            <a:ext cx="2729484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548640" y="457200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Central-bank money is never mixed with commercial wallet balances — this table separation is the audit boundary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8-network-architectur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Flow Diagram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single request traverses the network tier by tier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Hit Nginx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Filter/serve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Proxy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FastAPI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Correlate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assigned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Handle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logic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Query DB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network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Respond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+ JSON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8-dfd-level-0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8-dfd-level-1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Payment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branch shown explicitly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Submit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Validate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+ PCI DSS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Debit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ledger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Credit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ledger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 record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Notify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update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473452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28316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/ insufficient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528316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&amp; notify customer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23844" y="3931920"/>
            <a:ext cx="9144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4219956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Detection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scoring with mandatory human checkpoint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Ingest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Module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Extract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Flag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threshold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Review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decides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Log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recorded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320540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5404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threshold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75404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alert; payment continues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170932" y="3931920"/>
            <a:ext cx="9144" cy="274320"/>
          </a:xfrm>
          <a:prstGeom prst="line">
            <a:avLst/>
          </a:prstGeom>
          <a:noFill/>
          <a:ln w="1778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6067044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 access to account and payment APIs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asks consent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Approve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authorizes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Consent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scoped consent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Call API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/ PIS / CBDC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recorded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Expire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expiry/revoke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8-database-erd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Diagram — Registration Through Executive Reporting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lifecycle across all five modules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229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8346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04088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0525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10642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822960" y="150876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22960" y="1335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registration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834640" y="1892808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834640" y="17190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0" y="2276856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029200" y="21031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customer + wallet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 flipH="1">
            <a:off x="2834640" y="2660904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2834640" y="24871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Created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3136392"/>
            <a:ext cx="11457432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5394960" y="31821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later 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822960" y="3456432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822960" y="32826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payment / API call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4640" y="3840480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2834640" y="36667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/payments or PIS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0" y="4224528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5029200" y="40507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transaction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 flipH="1">
            <a:off x="5029200" y="4608576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5029200" y="4434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4992624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029200" y="481888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ledger entries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 flipH="1">
            <a:off x="2834640" y="5376672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2834640" y="52029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052560" y="576072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9052560" y="5586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aggregation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65760" y="6080760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vertical lines are lifelines; each horizontal arrow is one API call or DB operation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2026-08-17T04:53:33Z</dcterms:created>
  <dcterms:modified xsi:type="dcterms:W3CDTF">2026-08-17T04:53:33Z</dcterms:modified>
</cp:coreProperties>
</file>