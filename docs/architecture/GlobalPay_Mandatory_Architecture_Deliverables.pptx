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365760"/>
            <a:ext cx="1005840" cy="1005840"/>
          </a:xfrm>
          <a:prstGeom prst="roundRect">
            <a:avLst>
              <a:gd name="adj" fmla="val 25455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591556" y="3657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144475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8FD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GLOBALPAY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719072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Mandatory Architecture &amp; Engineering Deliverables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3969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17 mandatory diagrams, numbered exactly as listed in the exam brief</a:t>
            </a:r>
            <a:endParaRPr lang="en-US" sz="11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80160" y="2468880"/>
          <a:ext cx="9601200" cy="4160520"/>
        </p:xfrm>
        <a:graphic>
          <a:graphicData uri="http://schemas.openxmlformats.org/drawingml/2006/table">
            <a:tbl>
              <a:tblPr/>
              <a:tblGrid>
                <a:gridCol w="640080"/>
                <a:gridCol w="6217920"/>
                <a:gridCol w="274320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Also in Stage 1 deck?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Financial Technology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High-Level Solution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System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 (composite index)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Wallet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Processing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Banking API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Fraud Detection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CBDC Simulation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Network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Flow 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Flow Diagram (Level 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Flow Diagram (Level 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Payment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 Detection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Banking API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ERD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Financial Technology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five modules connect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86868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" y="102412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1: Wallets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03504" y="126187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FastAPI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589520" y="86868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44384" y="102412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2: Payments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644384" y="126187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DSS, ISO 20022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82880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198424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3: Fraud AI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3504" y="222199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42001, NIST AI RMF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89520" y="182880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44384" y="198424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4: Open Banking / CBDC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644384" y="222199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OAuth2, Open Banking Std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931920" y="1082650"/>
            <a:ext cx="3657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023360" y="8321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balance check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 flipH="1">
            <a:off x="3383280" y="1581912"/>
            <a:ext cx="4754880" cy="24688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2834640" y="1600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stream / decision feedback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 flipV="1">
            <a:off x="8778240" y="1581912"/>
            <a:ext cx="182880" cy="24688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6858000" y="16002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initiation (PIS)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2724912"/>
            <a:ext cx="10424160" cy="530352"/>
          </a:xfrm>
          <a:prstGeom prst="roundRect">
            <a:avLst>
              <a:gd name="adj" fmla="val 13793"/>
            </a:avLst>
          </a:prstGeom>
          <a:solidFill>
            <a:srgbClr val="3A2E6E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2770632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single source of truth for all 5 modules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3008376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Redis: cache / rate-limit / idempotency only — never the source of truth for a balance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240280" y="1581912"/>
            <a:ext cx="9144" cy="114300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281160" y="1581912"/>
            <a:ext cx="9144" cy="114300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240280" y="2542032"/>
            <a:ext cx="9144" cy="18288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281160" y="2542032"/>
            <a:ext cx="9144" cy="18288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069080" y="356616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72160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5: Executive Dashboard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123944" y="395935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&amp; leadership — read only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760720" y="3255264"/>
            <a:ext cx="9144" cy="310896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3611880" y="327355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only — KPIs, alerts, activity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864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809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51460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3405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48056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0001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AI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44652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6597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Bank/CBDC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41248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63193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48640" y="475488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1–4 write to PostgreSQL; Module 5 reads only; only the named service calls above cross module boundaries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High-Level Solution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platform view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05156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" y="137617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3504" y="161391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React: customer, merchant, ops &amp; executive portals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210312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228600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261061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layer (FastAPI)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3504" y="284835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wallets, payments, fraud, open banking, dashboard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333756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352044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" y="384505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" y="408279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(system of record) + Redis (cache)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052560" y="1051560"/>
            <a:ext cx="1920240" cy="3520440"/>
          </a:xfrm>
          <a:prstGeom prst="roundRect">
            <a:avLst>
              <a:gd name="adj" fmla="val 3810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0" y="1143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144000" y="1463040"/>
            <a:ext cx="1737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 / 27017 / 27018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v4.0*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42001 / NIST AI RMF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CSF 2.0 + CIS Controls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75488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compliance controls apply across the presentation, API and data layers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System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implementation modules and their primary responsibilities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05156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1430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1435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68880" y="105156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06040" y="105156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 -&gt; FastAPI (auth, customers, wallets, merchants) -&gt; PostgreSQL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192024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2304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2024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06040" y="192024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transaction engine, double-entry ledger -&gt; ledger tables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78892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880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31729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AI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468880" y="278892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06040" y="278892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-&gt; Logistic Regression -&gt; risk scoring -&gt; human review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749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0080" y="40416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Banking/CBDC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468880" y="365760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06040" y="36576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APIs, CBDC API, activity monitoring -&gt; separate CBDC ledger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52628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617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49103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468880" y="452628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452628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aggregator across Modules 1-4 -&gt; executive reports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544068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module follows the shared React, FastAPI and PostgreSQL architecture with common security, audit and reporting controls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Wallet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wallet creation, balance operations, merchant accounts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Admin/Ops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Register, login, wallet, merchant portal, reports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auth, customers, wallets (ISO 27001 baseline)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Identity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bearer, RBAC, consent scopes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svc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KYC status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svc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ops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history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svc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&amp; KPIs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activity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Argon2id password hashing + encrypted/masked PII fields — ISO 27018, COBIT 2019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 800-63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assurance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27018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Protects customer PII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baseline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and identity operations write directly to PostgreSQL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Processing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double-entry ledger, transfers, merchant charges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Pay, transfer, view history, dashboards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payments (PCI DSS conceptual alignment, ISO 20022)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svc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controls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engine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svc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svc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P2P transfers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svc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POS/API charges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merch_pay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keys + append-oriented audit trail — two balanced debit/credit ledger rows per payment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20022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vocabulary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v4.0*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alignment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baseline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link to Module 3 for fraud scoring — the only true module-to-module call besides Module 4's PIS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Banking API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info &amp; payment initiation APIs, CBDC wallet ops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app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(sim)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operations console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Activity, health &amp; reports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open_banking, cbdc (Open Banking Std, OAuth2/JWT)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API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AIS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API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PIS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API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ops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record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monitor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Uptime/latency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reports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api_calls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cbdc_wallets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cbdc_ops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consent scopes — every call logged, every consent revocable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Std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API rules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consent scopes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lifecycle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20022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messaging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 reuses Module 2 transfer logic; CBDC wallet and operation records remain separate from commercial wallets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Fraud Detection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engineering, classification, mandatory human review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mgr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ops console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queue, case review, model KPIs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fraud (ISO 42001, NIST AI RMF)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signals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svc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alert ID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notes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+ metrics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fraud_alerts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model_registry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audit_logs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auto-block — human review is a project control aligned with ISO 42001 / NIST AI RMF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42001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management system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Govern/Map/Measure/Manage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control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blocking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to fraud/risk/compliance teams only — never shown to customers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CBDC Simulation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separate from the commercial wallet ledger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652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01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(sim)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940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1226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775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API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514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1800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49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records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0088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2374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923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reporting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662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2948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497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dashboard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65276" y="3886200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reads cbdc_wallets and cbdc_operations; these records remain separate from commercial wallet data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1005840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" y="10698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OAuth2/JWT, ISO 20022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9184" y="1307592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+ messaging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194560" y="1280160"/>
            <a:ext cx="928116" cy="1188720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9966960" y="1005840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21824" y="10698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021824" y="1307592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 flipH="1">
            <a:off x="7237476" y="1280160"/>
            <a:ext cx="2729484" cy="1188720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548640" y="457200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Central-bank money is never mixed with commercial wallet balances — this table separation is the audit boundary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Network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compose.yaml — 6 containers on one Docker network (globalpay-net)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937760" y="868680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92624" y="86868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web browser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80760" y="1252728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37760" y="1389888"/>
            <a:ext cx="2286000" cy="402336"/>
          </a:xfrm>
          <a:prstGeom prst="roundRect">
            <a:avLst>
              <a:gd name="adj" fmla="val 13636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92624" y="141732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(frontend:80)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992624" y="1655064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3000 -&gt; 80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80760" y="1792224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37760" y="1929384"/>
            <a:ext cx="2286000" cy="402336"/>
          </a:xfrm>
          <a:prstGeom prst="roundRect">
            <a:avLst>
              <a:gd name="adj" fmla="val 13636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92624" y="195681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(backend:8000)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92624" y="2194560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Correlation-ID, security headers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80760" y="2331720"/>
            <a:ext cx="9144" cy="15544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2487168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551176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network globalpay-net — 9 routers, 5 conceptual modules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14300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9786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customers, wallets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9786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2628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8114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payments, fraud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8114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2-3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90956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6442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open_banking, cbdc, dashboard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96442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4-5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697480" y="3291840"/>
            <a:ext cx="1828800" cy="27432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 flipH="1">
            <a:off x="4526280" y="3291840"/>
            <a:ext cx="1554480" cy="27432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1" name="Shape 30 cache connection"/>
          <p:cNvSpPr/>
          <p:nvPr/>
        </p:nvSpPr>
        <p:spPr>
          <a:xfrm>
            <a:off x="6080760" y="3291840"/>
            <a:ext cx="1554480" cy="27432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 flipH="1">
            <a:off x="7635240" y="3291840"/>
            <a:ext cx="1828800" cy="27432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154680" y="3566160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9544" y="3593592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(16-alpine)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209544" y="3831336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63640" y="3566160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8504" y="3593592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(7-alpine)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18504" y="3831336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/ rate-limit only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823960" y="3977640"/>
            <a:ext cx="2194560" cy="201168"/>
          </a:xfrm>
          <a:prstGeom prst="roundRect">
            <a:avLst>
              <a:gd name="adj" fmla="val 27273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78824" y="397764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:9090 + Grafana :3001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8640" y="425196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never holds the authoritative wallet balance — Postgres is the single source of truth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Flow Diagram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single request traverses the network tier by tier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Hit Nginx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Filter/serve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Proxy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FastAPI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Correlate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assigned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Handle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logic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Query DB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network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Respond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+ JSON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 Diagram — Level 0 (Context)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as a single process, with its external entities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27448" y="2514600"/>
            <a:ext cx="2743200" cy="146304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27448" y="25146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GlobalPay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86868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86868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61120" y="86868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15984" y="86868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470916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61120" y="470916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15984" y="470916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bank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 (sim)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27448" y="502920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502920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874520" y="1600200"/>
            <a:ext cx="3277000" cy="1150000"/>
          </a:xfrm>
          <a:prstGeom prst="line">
            <a:avLst/>
          </a:prstGeom>
          <a:noFill/>
          <a:ln w="17780">
            <a:solidFill>
              <a:srgbClr val="858F9E"/>
            </a:solidFill>
            <a:prstDash val="solid"/>
            <a:headEnd type="triangle" w="med" len="med"/>
            <a:tailEnd type="triangle" w="med" len="med"/>
          </a:ln>
        </p:spPr>
      </p:sp>
      <p:sp>
        <p:nvSpPr>
          <p:cNvPr id="22" name="Shape 20"/>
          <p:cNvSpPr/>
          <p:nvPr/>
        </p:nvSpPr>
        <p:spPr>
          <a:xfrm flipH="1">
            <a:off x="7050000" y="1600200"/>
            <a:ext cx="3236000" cy="1150000"/>
          </a:xfrm>
          <a:prstGeom prst="line">
            <a:avLst/>
          </a:prstGeom>
          <a:noFill/>
          <a:ln w="17780">
            <a:solidFill>
              <a:srgbClr val="858F9E"/>
            </a:solidFill>
            <a:prstDash val="solid"/>
            <a:headEnd type="triangle" w="med" len="med"/>
            <a:tailEnd type="triangle" w="med" len="med"/>
          </a:ln>
        </p:spPr>
      </p:sp>
      <p:sp>
        <p:nvSpPr>
          <p:cNvPr id="23" name="Shape 21"/>
          <p:cNvSpPr/>
          <p:nvPr/>
        </p:nvSpPr>
        <p:spPr>
          <a:xfrm flipV="1">
            <a:off x="1874520" y="3740000"/>
            <a:ext cx="3277000" cy="969160"/>
          </a:xfrm>
          <a:prstGeom prst="line">
            <a:avLst/>
          </a:prstGeom>
          <a:noFill/>
          <a:ln w="17780">
            <a:solidFill>
              <a:srgbClr val="858F9E"/>
            </a:solidFill>
            <a:prstDash val="solid"/>
            <a:headEnd type="triangle" w="med" len="med"/>
            <a:tailEnd type="triangle" w="med" len="med"/>
          </a:ln>
        </p:spPr>
      </p:sp>
      <p:sp>
        <p:nvSpPr>
          <p:cNvPr id="24" name="Shape 22"/>
          <p:cNvSpPr/>
          <p:nvPr/>
        </p:nvSpPr>
        <p:spPr>
          <a:xfrm flipH="1" flipV="1">
            <a:off x="7050000" y="3740000"/>
            <a:ext cx="3236000" cy="969160"/>
          </a:xfrm>
          <a:prstGeom prst="line">
            <a:avLst/>
          </a:prstGeom>
          <a:noFill/>
          <a:ln w="17780">
            <a:solidFill>
              <a:srgbClr val="858F9E"/>
            </a:solidFill>
            <a:prstDash val="solid"/>
            <a:headEnd type="triangle" w="med" len="med"/>
            <a:tailEnd type="triangle" w="med" len="med"/>
          </a:ln>
        </p:spPr>
      </p:sp>
      <p:sp>
        <p:nvSpPr>
          <p:cNvPr id="25" name="Shape 23"/>
          <p:cNvSpPr/>
          <p:nvPr/>
        </p:nvSpPr>
        <p:spPr>
          <a:xfrm flipV="1">
            <a:off x="6048756" y="3977640"/>
            <a:ext cx="9144" cy="1051560"/>
          </a:xfrm>
          <a:prstGeom prst="line">
            <a:avLst/>
          </a:prstGeom>
          <a:noFill/>
          <a:ln w="17780">
            <a:solidFill>
              <a:srgbClr val="858F9E"/>
            </a:solidFill>
            <a:prstDash val="solid"/>
            <a:headEnd type="triangle" w="med" len="med"/>
            <a:tailEnd type="triangle" w="med" len="med"/>
          </a:ln>
        </p:spPr>
      </p:sp>
      <p:sp>
        <p:nvSpPr>
          <p:cNvPr id="26" name="Text 24"/>
          <p:cNvSpPr/>
          <p:nvPr/>
        </p:nvSpPr>
        <p:spPr>
          <a:xfrm>
            <a:off x="548640" y="1645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payments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961120" y="1645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Settlements, reports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" y="39776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Alerts, case decisions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961120" y="39776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calls, CBDC ops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840480" y="4709160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exec reports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 Diagram — Level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decomposed into its five core processes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2237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237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1693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1693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1149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149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0605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0605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CBDC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061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061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2237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customers/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705356" y="2057400"/>
            <a:ext cx="9144" cy="411480"/>
          </a:xfrm>
          <a:prstGeom prst="line">
            <a:avLst/>
          </a:prstGeom>
          <a:noFill/>
          <a:ln w="17780">
            <a:solidFill>
              <a:srgbClr val="858F9E"/>
            </a:solidFill>
            <a:prstDash val="solid"/>
            <a:headEnd type="none"/>
            <a:tailEnd type="triangle" w="med" len="med"/>
          </a:ln>
        </p:spPr>
      </p:sp>
      <p:sp>
        <p:nvSpPr>
          <p:cNvPr id="22" name="Shape 20"/>
          <p:cNvSpPr/>
          <p:nvPr/>
        </p:nvSpPr>
        <p:spPr>
          <a:xfrm>
            <a:off x="291693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1693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transactions/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899916" y="2057400"/>
            <a:ext cx="9144" cy="411480"/>
          </a:xfrm>
          <a:prstGeom prst="line">
            <a:avLst/>
          </a:prstGeom>
          <a:noFill/>
          <a:ln w="17780">
            <a:solidFill>
              <a:srgbClr val="858F9E"/>
            </a:solidFill>
            <a:prstDash val="solid"/>
            <a:headEnd type="none"/>
            <a:tailEnd type="triangle" w="med" len="med"/>
          </a:ln>
        </p:spPr>
      </p:sp>
      <p:sp>
        <p:nvSpPr>
          <p:cNvPr id="25" name="Shape 23"/>
          <p:cNvSpPr/>
          <p:nvPr/>
        </p:nvSpPr>
        <p:spPr>
          <a:xfrm>
            <a:off x="511149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1149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alerts/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094476" y="2057400"/>
            <a:ext cx="9144" cy="411480"/>
          </a:xfrm>
          <a:prstGeom prst="line">
            <a:avLst/>
          </a:prstGeom>
          <a:noFill/>
          <a:ln w="17780">
            <a:solidFill>
              <a:srgbClr val="858F9E"/>
            </a:solidFill>
            <a:prstDash val="solid"/>
            <a:headEnd type="none"/>
            <a:tailEnd type="triangle" w="med" len="med"/>
          </a:ln>
        </p:spPr>
      </p:sp>
      <p:sp>
        <p:nvSpPr>
          <p:cNvPr id="28" name="Shape 26"/>
          <p:cNvSpPr/>
          <p:nvPr/>
        </p:nvSpPr>
        <p:spPr>
          <a:xfrm>
            <a:off x="730605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0605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 api_calls/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cbdc_ops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8289036" y="2057400"/>
            <a:ext cx="9144" cy="411480"/>
          </a:xfrm>
          <a:prstGeom prst="line">
            <a:avLst/>
          </a:prstGeom>
          <a:noFill/>
          <a:ln w="17780">
            <a:solidFill>
              <a:srgbClr val="858F9E"/>
            </a:solidFill>
            <a:prstDash val="solid"/>
            <a:headEnd type="none"/>
            <a:tailEnd type="triangle" w="med" len="med"/>
          </a:ln>
        </p:spPr>
      </p:sp>
      <p:sp>
        <p:nvSpPr>
          <p:cNvPr id="31" name="Shape 29"/>
          <p:cNvSpPr/>
          <p:nvPr/>
        </p:nvSpPr>
        <p:spPr>
          <a:xfrm>
            <a:off x="950061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0061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 live KPI/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0483596" y="2057400"/>
            <a:ext cx="9144" cy="411480"/>
          </a:xfrm>
          <a:prstGeom prst="line">
            <a:avLst/>
          </a:prstGeom>
          <a:noFill/>
          <a:ln w="17780">
            <a:solidFill>
              <a:srgbClr val="858F9E"/>
            </a:solidFill>
            <a:prstDash val="solid"/>
            <a:headEnd type="none"/>
            <a:tailEnd type="triangle" w="med" len="med"/>
          </a:ln>
        </p:spPr>
      </p:sp>
      <p:sp>
        <p:nvSpPr>
          <p:cNvPr id="34" name="Shape 32"/>
          <p:cNvSpPr/>
          <p:nvPr/>
        </p:nvSpPr>
        <p:spPr>
          <a:xfrm>
            <a:off x="274320" y="420624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" y="4206240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/ Merchant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 flipH="1" flipV="1">
            <a:off x="1179576" y="2057400"/>
            <a:ext cx="9144" cy="2148840"/>
          </a:xfrm>
          <a:prstGeom prst="line">
            <a:avLst/>
          </a:prstGeom>
          <a:noFill/>
          <a:ln w="17780">
            <a:solidFill>
              <a:srgbClr val="858F9E"/>
            </a:solidFill>
            <a:prstDash val="solid"/>
            <a:headEnd type="none"/>
            <a:tailEnd type="triangle" w="med" len="med"/>
          </a:ln>
        </p:spPr>
      </p:sp>
      <p:sp>
        <p:nvSpPr>
          <p:cNvPr id="37" name="Shape 35"/>
          <p:cNvSpPr/>
          <p:nvPr/>
        </p:nvSpPr>
        <p:spPr>
          <a:xfrm>
            <a:off x="10058400" y="420624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13264" y="4206240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 / Exec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 flipH="1">
            <a:off x="10972800" y="2057400"/>
            <a:ext cx="36576" cy="2148840"/>
          </a:xfrm>
          <a:prstGeom prst="line">
            <a:avLst/>
          </a:prstGeom>
          <a:noFill/>
          <a:ln w="17780">
            <a:solidFill>
              <a:srgbClr val="858F9E"/>
            </a:solidFill>
            <a:prstDash val="solid"/>
            <a:headEnd type="none"/>
            <a:tailEnd type="triangle" w="med" len="med"/>
          </a:ln>
        </p:spPr>
      </p:sp>
      <p:sp>
        <p:nvSpPr>
          <p:cNvPr id="40" name="Shape 38"/>
          <p:cNvSpPr/>
          <p:nvPr/>
        </p:nvSpPr>
        <p:spPr>
          <a:xfrm>
            <a:off x="4882896" y="1463040"/>
            <a:ext cx="228600" cy="9144"/>
          </a:xfrm>
          <a:prstGeom prst="line">
            <a:avLst/>
          </a:prstGeom>
          <a:noFill/>
          <a:ln w="17780">
            <a:solidFill>
              <a:srgbClr val="858F9E"/>
            </a:solidFill>
            <a:prstDash val="solid"/>
            <a:headEnd type="triangle" w="med" len="med"/>
            <a:tailEnd type="triangle" w="med" len="med"/>
          </a:ln>
        </p:spPr>
      </p:sp>
      <p:sp>
        <p:nvSpPr>
          <p:cNvPr id="41" name="Text 39"/>
          <p:cNvSpPr/>
          <p:nvPr/>
        </p:nvSpPr>
        <p:spPr>
          <a:xfrm>
            <a:off x="4608576" y="95097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stream / decision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 flipV="1">
            <a:off x="1705356" y="2057400"/>
            <a:ext cx="8778240" cy="978408"/>
          </a:xfrm>
          <a:prstGeom prst="line">
            <a:avLst/>
          </a:prstGeom>
          <a:noFill/>
          <a:ln w="17780">
            <a:solidFill>
              <a:srgbClr val="B6BCC6"/>
            </a:solidFill>
            <a:prstDash val="dot"/>
            <a:headEnd type="none"/>
            <a:tailEnd type="triangle" w="med" len="med"/>
          </a:ln>
        </p:spPr>
      </p:sp>
      <p:sp>
        <p:nvSpPr>
          <p:cNvPr id="43" name="Shape 41"/>
          <p:cNvSpPr/>
          <p:nvPr/>
        </p:nvSpPr>
        <p:spPr>
          <a:xfrm flipV="1">
            <a:off x="3899916" y="2057400"/>
            <a:ext cx="6583680" cy="978408"/>
          </a:xfrm>
          <a:prstGeom prst="line">
            <a:avLst/>
          </a:prstGeom>
          <a:noFill/>
          <a:ln w="17780">
            <a:solidFill>
              <a:srgbClr val="B6BCC6"/>
            </a:solidFill>
            <a:prstDash val="dot"/>
            <a:headEnd type="none"/>
            <a:tailEnd type="triangle" w="med" len="med"/>
          </a:ln>
        </p:spPr>
      </p:sp>
      <p:sp>
        <p:nvSpPr>
          <p:cNvPr id="44" name="Shape 42"/>
          <p:cNvSpPr/>
          <p:nvPr/>
        </p:nvSpPr>
        <p:spPr>
          <a:xfrm flipV="1">
            <a:off x="6094476" y="2057400"/>
            <a:ext cx="4389120" cy="978408"/>
          </a:xfrm>
          <a:prstGeom prst="line">
            <a:avLst/>
          </a:prstGeom>
          <a:noFill/>
          <a:ln w="17780">
            <a:solidFill>
              <a:srgbClr val="B6BCC6"/>
            </a:solidFill>
            <a:prstDash val="dot"/>
            <a:headEnd type="none"/>
            <a:tailEnd type="triangle" w="med" len="med"/>
          </a:ln>
        </p:spPr>
      </p:sp>
      <p:sp>
        <p:nvSpPr>
          <p:cNvPr id="45" name="Shape 43"/>
          <p:cNvSpPr/>
          <p:nvPr/>
        </p:nvSpPr>
        <p:spPr>
          <a:xfrm flipV="1">
            <a:off x="8289036" y="2057400"/>
            <a:ext cx="2194560" cy="978408"/>
          </a:xfrm>
          <a:prstGeom prst="line">
            <a:avLst/>
          </a:prstGeom>
          <a:noFill/>
          <a:ln w="17780">
            <a:solidFill>
              <a:srgbClr val="B6BCC6"/>
            </a:solidFill>
            <a:prstDash val="dot"/>
            <a:headEnd type="none"/>
            <a:tailEnd type="triangle" w="med" len="med"/>
          </a:ln>
        </p:spPr>
      </p:sp>
      <p:sp>
        <p:nvSpPr>
          <p:cNvPr id="46" name="Text 44"/>
          <p:cNvSpPr/>
          <p:nvPr/>
        </p:nvSpPr>
        <p:spPr>
          <a:xfrm>
            <a:off x="548640" y="493776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arrows: on-demand aggregation from data stores into 5.0 Reporting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Payment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branch shown explicitly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Submit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pays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Validate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+ PCI DSS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Debit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ledger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Credit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ledger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Log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Audited record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Notify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update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473452" y="420624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528316" y="439369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/ insufficient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528316" y="463143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 &amp; notify customer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323844" y="3931920"/>
            <a:ext cx="9144" cy="274320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4219956" y="3950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Detection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scoring with mandatory human checkpoint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Ingest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Module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Extract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signals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Score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Flag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threshold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Review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decides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Log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recorded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320540" y="420624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5404" y="439369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threshold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375404" y="463143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alert; payment continues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170932" y="3931920"/>
            <a:ext cx="9144" cy="274320"/>
          </a:xfrm>
          <a:prstGeom prst="line">
            <a:avLst/>
          </a:prstGeom>
          <a:noFill/>
          <a:ln w="17780">
            <a:solidFill>
              <a:srgbClr val="2E7D32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6067044" y="3950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Banking API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Consent-first access to account and payment APIs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Request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asks consent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Approve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authorizes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Consent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scoped consent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Call API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/ PIS / CBDC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Log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recorded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Expire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expiry/revoke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Entity Relationship Diagram (ERD)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tables from backend/app/models/entities.py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918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role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hashed_pw</a:t>
            </a:r>
            <a:endParaRPr lang="en-US" sz="760" dirty="0"/>
          </a:p>
        </p:txBody>
      </p:sp>
      <p:sp>
        <p:nvSpPr>
          <p:cNvPr id="13" name="Shape 11"/>
          <p:cNvSpPr/>
          <p:nvPr/>
        </p:nvSpPr>
        <p:spPr>
          <a:xfrm>
            <a:off x="205740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1226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kyc_status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384048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9534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merchant_id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business_name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562356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2356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2356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67842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customer/merchant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740664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0664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0664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46150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consent_id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scopes, client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918972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8972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8972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ApiCall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24458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call_id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status_code</a:t>
            </a:r>
            <a:endParaRPr lang="en-US" sz="760" dirty="0"/>
          </a:p>
        </p:txBody>
      </p:sp>
      <p:sp>
        <p:nvSpPr>
          <p:cNvPr id="33" name="Shape 31"/>
          <p:cNvSpPr/>
          <p:nvPr/>
        </p:nvSpPr>
        <p:spPr>
          <a:xfrm>
            <a:off x="27432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432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918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sender/receiver_wallet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amount, status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205740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5740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05740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LedgerEntry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11226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entry_id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direction, amount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384048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4048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FraudAlert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89534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alert_id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risk_score, status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562356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2356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2356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67842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investigation_id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alert_id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reviewer, notes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740664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40664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0664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ModelRegistry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46150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model_id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version, metrics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trained_at</a:t>
            </a:r>
            <a:endParaRPr lang="en-US" sz="760" dirty="0"/>
          </a:p>
        </p:txBody>
      </p:sp>
      <p:sp>
        <p:nvSpPr>
          <p:cNvPr id="53" name="Shape 51"/>
          <p:cNvSpPr/>
          <p:nvPr/>
        </p:nvSpPr>
        <p:spPr>
          <a:xfrm>
            <a:off x="918972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18972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8972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AuditLog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924458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audit_id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action, actor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correlation_id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274320" y="3108960"/>
            <a:ext cx="1691640" cy="91440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74320" y="310896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" y="310896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CbdcWallet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329184" y="3374136"/>
            <a:ext cx="1581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cbdc_wallet_id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760" dirty="0"/>
          </a:p>
        </p:txBody>
      </p:sp>
      <p:sp>
        <p:nvSpPr>
          <p:cNvPr id="61" name="Shape 59"/>
          <p:cNvSpPr/>
          <p:nvPr/>
        </p:nvSpPr>
        <p:spPr>
          <a:xfrm>
            <a:off x="2057400" y="3108960"/>
            <a:ext cx="1691640" cy="91440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057400" y="310896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057400" y="310896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CbdcOperation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112264" y="3374136"/>
            <a:ext cx="1581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op_id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cbdc_wallet_id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issue/redeem</a:t>
            </a:r>
            <a:endParaRPr lang="en-US" sz="760" dirty="0"/>
          </a:p>
        </p:txBody>
      </p:sp>
      <p:sp>
        <p:nvSpPr>
          <p:cNvPr id="65" name="Shape 63"/>
          <p:cNvSpPr/>
          <p:nvPr/>
        </p:nvSpPr>
        <p:spPr>
          <a:xfrm>
            <a:off x="1965960" y="138988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3749040" y="138988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5532120" y="138988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2903220" y="182880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196596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374904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553212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731520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1120140" y="292608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1965960" y="3520440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5" name="Text 73"/>
          <p:cNvSpPr/>
          <p:nvPr/>
        </p:nvSpPr>
        <p:spPr>
          <a:xfrm>
            <a:off x="274320" y="4206240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-&gt; {Customer, Merchant}; Customer -&gt; {Wallet, Consent, CbdcWallet}; Merchant -&gt; Wallet. Transaction -&gt; {LedgerEntry, FraudAlert -&gt; Investigation}. ModelRegistry and AuditLog are cross-cutting.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Sequence Diagram — Registration Through Executive Reporting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lifecycle across all five modules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716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2296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14884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4884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83464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34340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4340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35508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04088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36676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05256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37844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106424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822960" y="1508760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22960" y="1335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registration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834640" y="1892808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2834640" y="17190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/register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0" y="2276856"/>
            <a:ext cx="40233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5029200" y="21031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customer + wallet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 flipH="1">
            <a:off x="2834640" y="2660904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2834640" y="248716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 Created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5760" y="3136392"/>
            <a:ext cx="11457432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5394960" y="318211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later —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822960" y="3456432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822960" y="32826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payment / API call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4640" y="3840480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2834640" y="36667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/payments or PIS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029200" y="4224528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5029200" y="40507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transaction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 flipH="1">
            <a:off x="5029200" y="4608576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5029200" y="4434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0" y="4992624"/>
            <a:ext cx="40233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5029200" y="481888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two ledger entries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 flipH="1">
            <a:off x="2834640" y="5376672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2834640" y="52029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052560" y="5760720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9052560" y="5586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aggregation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65760" y="6080760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vertical lines are lifelines; each horizontal arrow is one API call or DB operation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2026-08-17T04:53:33Z</dcterms:created>
  <dcterms:modified xsi:type="dcterms:W3CDTF">2026-08-17T04:53:33Z</dcterms:modified>
</cp:coreProperties>
</file>